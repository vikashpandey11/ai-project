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4" r:id="rId3"/>
    <p:sldId id="257" r:id="rId4"/>
    <p:sldId id="258" r:id="rId5"/>
    <p:sldId id="259" r:id="rId6"/>
    <p:sldId id="269" r:id="rId7"/>
    <p:sldId id="270" r:id="rId8"/>
    <p:sldId id="260" r:id="rId9"/>
    <p:sldId id="261" r:id="rId10"/>
    <p:sldId id="262" r:id="rId11"/>
    <p:sldId id="263" r:id="rId12"/>
    <p:sldId id="265" r:id="rId13"/>
    <p:sldId id="266" r:id="rId14"/>
    <p:sldId id="267" r:id="rId15"/>
    <p:sldId id="268"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CC3300"/>
    <a:srgbClr val="008000"/>
    <a:srgbClr val="9900FF"/>
    <a:srgbClr val="FFFFFF"/>
    <a:srgbClr val="EAEAEA"/>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7383B41-3712-4E57-A1F2-D4F4FBEEC50F}" type="datetimeFigureOut">
              <a:rPr lang="en-US" smtClean="0"/>
              <a:t>14-Apr-23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5ECBFF-8DD6-4BAE-B470-F6C7FAA147A1}" type="slidenum">
              <a:rPr lang="en-US" smtClean="0"/>
              <a:t>‹#›</a:t>
            </a:fld>
            <a:endParaRPr lang="en-US"/>
          </a:p>
        </p:txBody>
      </p:sp>
    </p:spTree>
    <p:extLst>
      <p:ext uri="{BB962C8B-B14F-4D97-AF65-F5344CB8AC3E}">
        <p14:creationId xmlns:p14="http://schemas.microsoft.com/office/powerpoint/2010/main" val="2363899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E7383B41-3712-4E57-A1F2-D4F4FBEEC50F}" type="datetimeFigureOut">
              <a:rPr lang="en-US" smtClean="0"/>
              <a:t>14-Apr-23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5ECBFF-8DD6-4BAE-B470-F6C7FAA147A1}" type="slidenum">
              <a:rPr lang="en-US" smtClean="0"/>
              <a:t>‹#›</a:t>
            </a:fld>
            <a:endParaRPr lang="en-US"/>
          </a:p>
        </p:txBody>
      </p:sp>
    </p:spTree>
    <p:extLst>
      <p:ext uri="{BB962C8B-B14F-4D97-AF65-F5344CB8AC3E}">
        <p14:creationId xmlns:p14="http://schemas.microsoft.com/office/powerpoint/2010/main" val="2023545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383B41-3712-4E57-A1F2-D4F4FBEEC50F}" type="datetimeFigureOut">
              <a:rPr lang="en-US" smtClean="0"/>
              <a:t>14-Apr-23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5ECBFF-8DD6-4BAE-B470-F6C7FAA147A1}" type="slidenum">
              <a:rPr lang="en-US" smtClean="0"/>
              <a:t>‹#›</a:t>
            </a:fld>
            <a:endParaRPr lang="en-US"/>
          </a:p>
        </p:txBody>
      </p:sp>
    </p:spTree>
    <p:extLst>
      <p:ext uri="{BB962C8B-B14F-4D97-AF65-F5344CB8AC3E}">
        <p14:creationId xmlns:p14="http://schemas.microsoft.com/office/powerpoint/2010/main" val="2550938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7383B41-3712-4E57-A1F2-D4F4FBEEC50F}" type="datetimeFigureOut">
              <a:rPr lang="en-US" smtClean="0"/>
              <a:t>14-Apr-23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5ECBFF-8DD6-4BAE-B470-F6C7FAA147A1}" type="slidenum">
              <a:rPr lang="en-US" smtClean="0"/>
              <a:t>‹#›</a:t>
            </a:fld>
            <a:endParaRPr lang="en-US"/>
          </a:p>
        </p:txBody>
      </p:sp>
    </p:spTree>
    <p:extLst>
      <p:ext uri="{BB962C8B-B14F-4D97-AF65-F5344CB8AC3E}">
        <p14:creationId xmlns:p14="http://schemas.microsoft.com/office/powerpoint/2010/main" val="3692279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7383B41-3712-4E57-A1F2-D4F4FBEEC50F}" type="datetimeFigureOut">
              <a:rPr lang="en-US" smtClean="0"/>
              <a:t>14-Apr-23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5ECBFF-8DD6-4BAE-B470-F6C7FAA147A1}" type="slidenum">
              <a:rPr lang="en-US" smtClean="0"/>
              <a:t>‹#›</a:t>
            </a:fld>
            <a:endParaRPr lang="en-US"/>
          </a:p>
        </p:txBody>
      </p:sp>
    </p:spTree>
    <p:extLst>
      <p:ext uri="{BB962C8B-B14F-4D97-AF65-F5344CB8AC3E}">
        <p14:creationId xmlns:p14="http://schemas.microsoft.com/office/powerpoint/2010/main" val="992636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7383B41-3712-4E57-A1F2-D4F4FBEEC50F}" type="datetimeFigureOut">
              <a:rPr lang="en-US" smtClean="0"/>
              <a:t>14-Apr-23</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295ECBFF-8DD6-4BAE-B470-F6C7FAA147A1}" type="slidenum">
              <a:rPr lang="en-US" smtClean="0"/>
              <a:t>‹#›</a:t>
            </a:fld>
            <a:endParaRPr lang="en-US"/>
          </a:p>
        </p:txBody>
      </p:sp>
    </p:spTree>
    <p:extLst>
      <p:ext uri="{BB962C8B-B14F-4D97-AF65-F5344CB8AC3E}">
        <p14:creationId xmlns:p14="http://schemas.microsoft.com/office/powerpoint/2010/main" val="12332933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7383B41-3712-4E57-A1F2-D4F4FBEEC50F}" type="datetimeFigureOut">
              <a:rPr lang="en-US" smtClean="0"/>
              <a:t>14-Apr-23</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295ECBFF-8DD6-4BAE-B470-F6C7FAA147A1}" type="slidenum">
              <a:rPr lang="en-US" smtClean="0"/>
              <a:t>‹#›</a:t>
            </a:fld>
            <a:endParaRPr lang="en-US"/>
          </a:p>
        </p:txBody>
      </p:sp>
    </p:spTree>
    <p:extLst>
      <p:ext uri="{BB962C8B-B14F-4D97-AF65-F5344CB8AC3E}">
        <p14:creationId xmlns:p14="http://schemas.microsoft.com/office/powerpoint/2010/main" val="2196111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E7383B41-3712-4E57-A1F2-D4F4FBEEC50F}" type="datetimeFigureOut">
              <a:rPr lang="en-US" smtClean="0"/>
              <a:t>14-Apr-23</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295ECBFF-8DD6-4BAE-B470-F6C7FAA147A1}" type="slidenum">
              <a:rPr lang="en-US" smtClean="0"/>
              <a:t>‹#›</a:t>
            </a:fld>
            <a:endParaRPr lang="en-US"/>
          </a:p>
        </p:txBody>
      </p:sp>
    </p:spTree>
    <p:extLst>
      <p:ext uri="{BB962C8B-B14F-4D97-AF65-F5344CB8AC3E}">
        <p14:creationId xmlns:p14="http://schemas.microsoft.com/office/powerpoint/2010/main" val="17517745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383B41-3712-4E57-A1F2-D4F4FBEEC50F}" type="datetimeFigureOut">
              <a:rPr lang="en-US" smtClean="0"/>
              <a:t>14-Apr-23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5ECBFF-8DD6-4BAE-B470-F6C7FAA147A1}" type="slidenum">
              <a:rPr lang="en-US" smtClean="0"/>
              <a:t>‹#›</a:t>
            </a:fld>
            <a:endParaRPr lang="en-US"/>
          </a:p>
        </p:txBody>
      </p:sp>
    </p:spTree>
    <p:extLst>
      <p:ext uri="{BB962C8B-B14F-4D97-AF65-F5344CB8AC3E}">
        <p14:creationId xmlns:p14="http://schemas.microsoft.com/office/powerpoint/2010/main" val="12709302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383B41-3712-4E57-A1F2-D4F4FBEEC50F}" type="datetimeFigureOut">
              <a:rPr lang="en-US" smtClean="0"/>
              <a:t>14-Apr-23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5ECBFF-8DD6-4BAE-B470-F6C7FAA147A1}" type="slidenum">
              <a:rPr lang="en-US" smtClean="0"/>
              <a:t>‹#›</a:t>
            </a:fld>
            <a:endParaRPr lang="en-US"/>
          </a:p>
        </p:txBody>
      </p:sp>
    </p:spTree>
    <p:extLst>
      <p:ext uri="{BB962C8B-B14F-4D97-AF65-F5344CB8AC3E}">
        <p14:creationId xmlns:p14="http://schemas.microsoft.com/office/powerpoint/2010/main" val="7768963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7383B41-3712-4E57-A1F2-D4F4FBEEC50F}" type="datetimeFigureOut">
              <a:rPr lang="en-US" smtClean="0"/>
              <a:t>14-Apr-23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5ECBFF-8DD6-4BAE-B470-F6C7FAA147A1}" type="slidenum">
              <a:rPr lang="en-US" smtClean="0"/>
              <a:t>‹#›</a:t>
            </a:fld>
            <a:endParaRPr lang="en-US"/>
          </a:p>
        </p:txBody>
      </p:sp>
    </p:spTree>
    <p:extLst>
      <p:ext uri="{BB962C8B-B14F-4D97-AF65-F5344CB8AC3E}">
        <p14:creationId xmlns:p14="http://schemas.microsoft.com/office/powerpoint/2010/main" val="22316509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7383B41-3712-4E57-A1F2-D4F4FBEEC50F}" type="datetimeFigureOut">
              <a:rPr lang="en-US" smtClean="0"/>
              <a:t>14-Apr-23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5ECBFF-8DD6-4BAE-B470-F6C7FAA147A1}"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5090764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383B41-3712-4E57-A1F2-D4F4FBEEC50F}" type="datetimeFigureOut">
              <a:rPr lang="en-US" smtClean="0"/>
              <a:t>14-Apr-23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5ECBFF-8DD6-4BAE-B470-F6C7FAA147A1}" type="slidenum">
              <a:rPr lang="en-US" smtClean="0"/>
              <a:t>‹#›</a:t>
            </a:fld>
            <a:endParaRPr lang="en-US"/>
          </a:p>
        </p:txBody>
      </p:sp>
    </p:spTree>
    <p:extLst>
      <p:ext uri="{BB962C8B-B14F-4D97-AF65-F5344CB8AC3E}">
        <p14:creationId xmlns:p14="http://schemas.microsoft.com/office/powerpoint/2010/main" val="20917894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7383B41-3712-4E57-A1F2-D4F4FBEEC50F}" type="datetimeFigureOut">
              <a:rPr lang="en-US" smtClean="0"/>
              <a:t>14-Apr-23</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5ECBFF-8DD6-4BAE-B470-F6C7FAA147A1}" type="slidenum">
              <a:rPr lang="en-US" smtClean="0"/>
              <a:t>‹#›</a:t>
            </a:fld>
            <a:endParaRPr lang="en-US"/>
          </a:p>
        </p:txBody>
      </p:sp>
    </p:spTree>
    <p:extLst>
      <p:ext uri="{BB962C8B-B14F-4D97-AF65-F5344CB8AC3E}">
        <p14:creationId xmlns:p14="http://schemas.microsoft.com/office/powerpoint/2010/main" val="38732019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7383B41-3712-4E57-A1F2-D4F4FBEEC50F}" type="datetimeFigureOut">
              <a:rPr lang="en-US" smtClean="0"/>
              <a:t>14-Apr-23</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5ECBFF-8DD6-4BAE-B470-F6C7FAA147A1}" type="slidenum">
              <a:rPr lang="en-US" smtClean="0"/>
              <a:t>‹#›</a:t>
            </a:fld>
            <a:endParaRPr lang="en-US"/>
          </a:p>
        </p:txBody>
      </p:sp>
    </p:spTree>
    <p:extLst>
      <p:ext uri="{BB962C8B-B14F-4D97-AF65-F5344CB8AC3E}">
        <p14:creationId xmlns:p14="http://schemas.microsoft.com/office/powerpoint/2010/main" val="239550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383B41-3712-4E57-A1F2-D4F4FBEEC50F}" type="datetimeFigureOut">
              <a:rPr lang="en-US" smtClean="0"/>
              <a:t>14-Apr-23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5ECBFF-8DD6-4BAE-B470-F6C7FAA147A1}" type="slidenum">
              <a:rPr lang="en-US" smtClean="0"/>
              <a:t>‹#›</a:t>
            </a:fld>
            <a:endParaRPr lang="en-US"/>
          </a:p>
        </p:txBody>
      </p:sp>
    </p:spTree>
    <p:extLst>
      <p:ext uri="{BB962C8B-B14F-4D97-AF65-F5344CB8AC3E}">
        <p14:creationId xmlns:p14="http://schemas.microsoft.com/office/powerpoint/2010/main" val="31842050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383B41-3712-4E57-A1F2-D4F4FBEEC50F}" type="datetimeFigureOut">
              <a:rPr lang="en-US" smtClean="0"/>
              <a:t>14-Apr-23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5ECBFF-8DD6-4BAE-B470-F6C7FAA147A1}" type="slidenum">
              <a:rPr lang="en-US" smtClean="0"/>
              <a:t>‹#›</a:t>
            </a:fld>
            <a:endParaRPr lang="en-US"/>
          </a:p>
        </p:txBody>
      </p:sp>
    </p:spTree>
    <p:extLst>
      <p:ext uri="{BB962C8B-B14F-4D97-AF65-F5344CB8AC3E}">
        <p14:creationId xmlns:p14="http://schemas.microsoft.com/office/powerpoint/2010/main" val="415725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7383B41-3712-4E57-A1F2-D4F4FBEEC50F}" type="datetimeFigureOut">
              <a:rPr lang="en-US" smtClean="0"/>
              <a:t>14-Apr-23</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95ECBFF-8DD6-4BAE-B470-F6C7FAA147A1}" type="slidenum">
              <a:rPr lang="en-US" smtClean="0"/>
              <a:t>‹#›</a:t>
            </a:fld>
            <a:endParaRPr lang="en-US"/>
          </a:p>
        </p:txBody>
      </p:sp>
    </p:spTree>
    <p:extLst>
      <p:ext uri="{BB962C8B-B14F-4D97-AF65-F5344CB8AC3E}">
        <p14:creationId xmlns:p14="http://schemas.microsoft.com/office/powerpoint/2010/main" val="202912062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2.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6B7E16-3A8F-F8C3-D296-63601B991520}"/>
              </a:ext>
            </a:extLst>
          </p:cNvPr>
          <p:cNvSpPr txBox="1"/>
          <p:nvPr/>
        </p:nvSpPr>
        <p:spPr>
          <a:xfrm>
            <a:off x="2115667" y="-87606"/>
            <a:ext cx="6096000" cy="1708225"/>
          </a:xfrm>
          <a:prstGeom prst="rect">
            <a:avLst/>
          </a:prstGeom>
          <a:noFill/>
        </p:spPr>
        <p:txBody>
          <a:bodyPr wrap="square">
            <a:spAutoFit/>
          </a:bodyPr>
          <a:lstStyle/>
          <a:p>
            <a:pPr algn="ctr">
              <a:lnSpc>
                <a:spcPct val="150000"/>
              </a:lnSpc>
              <a:spcAft>
                <a:spcPts val="800"/>
              </a:spcAft>
            </a:pPr>
            <a:r>
              <a:rPr lang="en-US" sz="3000" b="1" u="sng" dirty="0">
                <a:solidFill>
                  <a:srgbClr val="92D050"/>
                </a:solidFill>
                <a:effectLst>
                  <a:glow rad="228600">
                    <a:schemeClr val="accent4">
                      <a:satMod val="175000"/>
                      <a:alpha val="40000"/>
                    </a:schemeClr>
                  </a:glow>
                </a:effectLst>
                <a:latin typeface="Times New Roman" panose="02020603050405020304" pitchFamily="18" charset="0"/>
                <a:cs typeface="Times New Roman" panose="02020603050405020304" pitchFamily="18" charset="0"/>
              </a:rPr>
              <a:t>INT 404: Artificial Intelligence</a:t>
            </a:r>
          </a:p>
          <a:p>
            <a:pPr algn="ctr">
              <a:lnSpc>
                <a:spcPct val="150000"/>
              </a:lnSpc>
              <a:spcAft>
                <a:spcPts val="800"/>
              </a:spcAft>
            </a:pPr>
            <a:endParaRPr lang="en-US" sz="700" b="1" u="sng" dirty="0">
              <a:solidFill>
                <a:srgbClr val="92D050"/>
              </a:solidFill>
              <a:latin typeface="Times New Roman" panose="02020603050405020304" pitchFamily="18" charset="0"/>
              <a:cs typeface="Times New Roman" panose="02020603050405020304" pitchFamily="18" charset="0"/>
            </a:endParaRPr>
          </a:p>
          <a:p>
            <a:pPr marL="0" marR="0" algn="ctr">
              <a:lnSpc>
                <a:spcPct val="150000"/>
              </a:lnSpc>
              <a:spcBef>
                <a:spcPts val="0"/>
              </a:spcBef>
              <a:spcAft>
                <a:spcPts val="800"/>
              </a:spcAft>
            </a:pPr>
            <a:r>
              <a:rPr lang="en-US" sz="2700" b="1" dirty="0">
                <a:ln w="6600">
                  <a:solidFill>
                    <a:schemeClr val="accent2"/>
                  </a:solidFill>
                  <a:prstDash val="solid"/>
                </a:ln>
                <a:solidFill>
                  <a:srgbClr val="FFFFFF"/>
                </a:solidFill>
                <a:effectLst>
                  <a:outerShdw dist="38100" dir="2700000" algn="tl" rotWithShape="0">
                    <a:schemeClr val="accent2"/>
                  </a:outerShdw>
                </a:effectLst>
                <a:latin typeface="Comic Sans MS" panose="030F0702030302020204" pitchFamily="66" charset="0"/>
                <a:ea typeface="Calibri" panose="020F0502020204030204" pitchFamily="34" charset="0"/>
                <a:cs typeface="Times New Roman" panose="02020603050405020304" pitchFamily="18" charset="0"/>
              </a:rPr>
              <a:t>Topic: AI  IN  SMART  HOME</a:t>
            </a:r>
          </a:p>
        </p:txBody>
      </p:sp>
      <p:sp>
        <p:nvSpPr>
          <p:cNvPr id="7" name="TextBox 6">
            <a:extLst>
              <a:ext uri="{FF2B5EF4-FFF2-40B4-BE49-F238E27FC236}">
                <a16:creationId xmlns:a16="http://schemas.microsoft.com/office/drawing/2014/main" id="{E076003F-2B18-F6E0-1E16-0D8F0476D80A}"/>
              </a:ext>
            </a:extLst>
          </p:cNvPr>
          <p:cNvSpPr txBox="1"/>
          <p:nvPr/>
        </p:nvSpPr>
        <p:spPr>
          <a:xfrm>
            <a:off x="345141" y="2311743"/>
            <a:ext cx="11501717" cy="1785104"/>
          </a:xfrm>
          <a:prstGeom prst="rect">
            <a:avLst/>
          </a:prstGeom>
          <a:noFill/>
        </p:spPr>
        <p:txBody>
          <a:bodyPr wrap="square">
            <a:spAutoFit/>
          </a:bodyPr>
          <a:lstStyle/>
          <a:p>
            <a:r>
              <a:rPr lang="en-US" sz="2200" b="1" u="sng" dirty="0">
                <a:solidFill>
                  <a:srgbClr val="C00000"/>
                </a:solidFill>
                <a:latin typeface="Times New Roman" panose="02020603050405020304" pitchFamily="18" charset="0"/>
                <a:cs typeface="Times New Roman" panose="02020603050405020304" pitchFamily="18" charset="0"/>
              </a:rPr>
              <a:t>Submitted By:  </a:t>
            </a:r>
          </a:p>
          <a:p>
            <a:endParaRPr lang="en-US" sz="2200" dirty="0">
              <a:latin typeface="Times New Roman" panose="02020603050405020304" pitchFamily="18" charset="0"/>
              <a:ea typeface="Calibri" panose="020F0502020204030204" pitchFamily="34" charset="0"/>
              <a:cs typeface="Times New Roman" panose="02020603050405020304" pitchFamily="18" charset="0"/>
            </a:endParaRPr>
          </a:p>
          <a:p>
            <a:r>
              <a:rPr lang="en-US" sz="2200"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Name:           </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Arnab Sarkar                 Armaan Kumar                     </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Vikash Pandey               </a:t>
            </a:r>
            <a:endParaRPr lang="en-US" sz="2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r>
              <a:rPr lang="en-US" sz="2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Reg No.:       </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12105922                         12111817                               </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12106224</a:t>
            </a:r>
            <a:br>
              <a:rPr lang="en-US" sz="2200" dirty="0">
                <a:effectLst/>
                <a:latin typeface="Times New Roman" panose="02020603050405020304" pitchFamily="18" charset="0"/>
                <a:ea typeface="Calibri" panose="020F0502020204030204" pitchFamily="34" charset="0"/>
                <a:cs typeface="Times New Roman" panose="02020603050405020304" pitchFamily="18" charset="0"/>
              </a:rPr>
            </a:br>
            <a:r>
              <a:rPr lang="en-US" sz="22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Roll No.:      </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RK21ANA19                 RK21ANB43                         </a:t>
            </a:r>
            <a:r>
              <a:rPr lang="en-US" sz="2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RK21ANB67</a:t>
            </a:r>
          </a:p>
        </p:txBody>
      </p:sp>
      <p:sp>
        <p:nvSpPr>
          <p:cNvPr id="10" name="Rectangle 9">
            <a:extLst>
              <a:ext uri="{FF2B5EF4-FFF2-40B4-BE49-F238E27FC236}">
                <a16:creationId xmlns:a16="http://schemas.microsoft.com/office/drawing/2014/main" id="{9C0E7EC7-14C3-E20F-50BC-AA9CD625254D}"/>
              </a:ext>
            </a:extLst>
          </p:cNvPr>
          <p:cNvSpPr/>
          <p:nvPr/>
        </p:nvSpPr>
        <p:spPr>
          <a:xfrm>
            <a:off x="2367786" y="1082736"/>
            <a:ext cx="5591761" cy="537883"/>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2" name="TextBox 11">
            <a:extLst>
              <a:ext uri="{FF2B5EF4-FFF2-40B4-BE49-F238E27FC236}">
                <a16:creationId xmlns:a16="http://schemas.microsoft.com/office/drawing/2014/main" id="{47543ED3-BADC-2498-6218-4D60DC596912}"/>
              </a:ext>
            </a:extLst>
          </p:cNvPr>
          <p:cNvSpPr txBox="1"/>
          <p:nvPr/>
        </p:nvSpPr>
        <p:spPr>
          <a:xfrm>
            <a:off x="345141" y="5690422"/>
            <a:ext cx="6094428" cy="553998"/>
          </a:xfrm>
          <a:prstGeom prst="rect">
            <a:avLst/>
          </a:prstGeom>
          <a:noFill/>
        </p:spPr>
        <p:txBody>
          <a:bodyPr wrap="square">
            <a:spAutoFit/>
          </a:bodyPr>
          <a:lstStyle/>
          <a:p>
            <a:r>
              <a:rPr lang="en-US" sz="3000" dirty="0">
                <a:effectLst>
                  <a:glow rad="139700">
                    <a:schemeClr val="accent2">
                      <a:satMod val="175000"/>
                      <a:alpha val="40000"/>
                    </a:schemeClr>
                  </a:glow>
                </a:effectLst>
                <a:latin typeface="Times New Roman" panose="02020603050405020304" pitchFamily="18" charset="0"/>
                <a:cs typeface="Times New Roman" panose="02020603050405020304" pitchFamily="18" charset="0"/>
              </a:rPr>
              <a:t>Submitted To: </a:t>
            </a:r>
            <a:r>
              <a:rPr lang="en-US" sz="3000" dirty="0">
                <a:latin typeface="Times New Roman" panose="02020603050405020304" pitchFamily="18" charset="0"/>
                <a:cs typeface="Times New Roman" panose="02020603050405020304" pitchFamily="18" charset="0"/>
              </a:rPr>
              <a:t>Mrs. Ankita Wadhawan </a:t>
            </a:r>
          </a:p>
        </p:txBody>
      </p:sp>
    </p:spTree>
    <p:extLst>
      <p:ext uri="{BB962C8B-B14F-4D97-AF65-F5344CB8AC3E}">
        <p14:creationId xmlns:p14="http://schemas.microsoft.com/office/powerpoint/2010/main" val="4168406435"/>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9659C3-9A3E-6710-C8AE-A228893AF4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601271438"/>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useBgFill="1">
        <p:nvSpPr>
          <p:cNvPr id="2" name="Title 1">
            <a:extLst>
              <a:ext uri="{FF2B5EF4-FFF2-40B4-BE49-F238E27FC236}">
                <a16:creationId xmlns:a16="http://schemas.microsoft.com/office/drawing/2014/main" id="{C5D6A15E-C3CB-A78A-C263-2C6E7DF1E3A8}"/>
              </a:ext>
            </a:extLst>
          </p:cNvPr>
          <p:cNvSpPr>
            <a:spLocks noGrp="1"/>
          </p:cNvSpPr>
          <p:nvPr>
            <p:ph type="title"/>
          </p:nvPr>
        </p:nvSpPr>
        <p:spPr>
          <a:xfrm>
            <a:off x="137065" y="160487"/>
            <a:ext cx="3218878" cy="753913"/>
          </a:xfrm>
        </p:spPr>
        <p:txBody>
          <a:bodyPr/>
          <a:lstStyle/>
          <a:p>
            <a:r>
              <a:rPr lang="en-US" sz="4700" u="sng" dirty="0">
                <a:effectLst>
                  <a:glow rad="139700">
                    <a:schemeClr val="accent1">
                      <a:satMod val="175000"/>
                      <a:alpha val="40000"/>
                    </a:schemeClr>
                  </a:glow>
                </a:effectLst>
                <a:latin typeface="Times New Roman" panose="02020603050405020304" pitchFamily="18" charset="0"/>
                <a:cs typeface="Times New Roman" panose="02020603050405020304" pitchFamily="18" charset="0"/>
              </a:rPr>
              <a:t>Introduction</a:t>
            </a:r>
          </a:p>
        </p:txBody>
      </p:sp>
      <p:sp>
        <p:nvSpPr>
          <p:cNvPr id="6" name="TextBox 5">
            <a:extLst>
              <a:ext uri="{FF2B5EF4-FFF2-40B4-BE49-F238E27FC236}">
                <a16:creationId xmlns:a16="http://schemas.microsoft.com/office/drawing/2014/main" id="{9C7042CA-1A91-C41A-427C-47457607B5AF}"/>
              </a:ext>
            </a:extLst>
          </p:cNvPr>
          <p:cNvSpPr txBox="1"/>
          <p:nvPr/>
        </p:nvSpPr>
        <p:spPr>
          <a:xfrm>
            <a:off x="137063" y="1551546"/>
            <a:ext cx="11917873" cy="517064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pPr algn="just"/>
            <a:r>
              <a:rPr lang="en-US" sz="3000" b="0" i="0" dirty="0">
                <a:solidFill>
                  <a:schemeClr val="bg1"/>
                </a:solidFill>
                <a:effectLst/>
                <a:latin typeface="Times New Roman" panose="02020603050405020304" pitchFamily="18" charset="0"/>
                <a:cs typeface="Times New Roman" panose="02020603050405020304" pitchFamily="18" charset="0"/>
              </a:rPr>
              <a:t>Artificial Intelligence (AI) is transforming the way we live in our homes by making them smarter, more convenient, and energy-efficient. AI-powered smart home systems are equipped with connected devices and sensors that allow them to learn and respond to user behavior and preferences. These systems can automate and control various household functions, such as lighting, temperature, security, and entertainment, using voice assistants and intuitive interfaces. With predictive maintenance, AI can detect potential issues before they become major problems, and with personalized recommendations, it can help users save energy and reduce their carbon footprint. As the technology advances, AI is expected to revolutionize the way we interact with our homes and improve our quality of life.</a:t>
            </a:r>
            <a:endParaRPr lang="en-US" sz="3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677549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A5BD97B-7474-9C81-9636-16375E896ECB}"/>
              </a:ext>
            </a:extLst>
          </p:cNvPr>
          <p:cNvSpPr txBox="1"/>
          <p:nvPr/>
        </p:nvSpPr>
        <p:spPr>
          <a:xfrm>
            <a:off x="2114352" y="0"/>
            <a:ext cx="7963294" cy="815608"/>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r>
              <a:rPr lang="en-US" sz="4700" b="0" i="0" u="sng" dirty="0">
                <a:solidFill>
                  <a:schemeClr val="bg1"/>
                </a:solidFill>
                <a:effectLst>
                  <a:glow rad="228600">
                    <a:schemeClr val="accent3">
                      <a:satMod val="175000"/>
                      <a:alpha val="40000"/>
                    </a:schemeClr>
                  </a:glow>
                </a:effectLst>
                <a:latin typeface="Times New Roman" panose="02020603050405020304" pitchFamily="18" charset="0"/>
                <a:cs typeface="Times New Roman" panose="02020603050405020304" pitchFamily="18" charset="0"/>
              </a:rPr>
              <a:t>How AI Works in Smart Homes</a:t>
            </a:r>
            <a:endParaRPr lang="en-US" sz="4700" u="sng" dirty="0">
              <a:solidFill>
                <a:schemeClr val="bg1"/>
              </a:solidFill>
              <a:effectLst>
                <a:glow rad="228600">
                  <a:schemeClr val="accent3">
                    <a:satMod val="175000"/>
                    <a:alpha val="40000"/>
                  </a:schemeClr>
                </a:glow>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748EB9B-F933-388A-C06A-CD4B5E44AA29}"/>
              </a:ext>
            </a:extLst>
          </p:cNvPr>
          <p:cNvSpPr txBox="1"/>
          <p:nvPr/>
        </p:nvSpPr>
        <p:spPr>
          <a:xfrm>
            <a:off x="177144" y="882207"/>
            <a:ext cx="11837709" cy="5893921"/>
          </a:xfrm>
          <a:prstGeom prst="rect">
            <a:avLst/>
          </a:prstGeom>
          <a:blipFill>
            <a:blip r:embed="rId3">
              <a:extLst>
                <a:ext uri="{BEBA8EAE-BF5A-486C-A8C5-ECC9F3942E4B}">
                  <a14:imgProps xmlns:a14="http://schemas.microsoft.com/office/drawing/2010/main">
                    <a14:imgLayer r:embed="rId4">
                      <a14:imgEffect>
                        <a14:artisticLineDrawing/>
                      </a14:imgEffect>
                    </a14:imgLayer>
                  </a14:imgProps>
                </a:ext>
              </a:extLst>
            </a:blip>
            <a:tile tx="0" ty="0" sx="100000" sy="100000" flip="none" algn="tl"/>
          </a:blipFill>
        </p:spPr>
        <p:txBody>
          <a:bodyPr wrap="square">
            <a:spAutoFit/>
          </a:bodyPr>
          <a:lstStyle/>
          <a:p>
            <a:pPr algn="just"/>
            <a:r>
              <a:rPr lang="en-US" sz="3000" b="0" i="0" dirty="0">
                <a:solidFill>
                  <a:schemeClr val="bg1"/>
                </a:solidFill>
                <a:effectLst/>
                <a:latin typeface="Times New Roman" panose="02020603050405020304" pitchFamily="18" charset="0"/>
                <a:cs typeface="Times New Roman" panose="02020603050405020304" pitchFamily="18" charset="0"/>
              </a:rPr>
              <a:t>AI works in smart homes by using machine learning algorithms to analyze and process data from connected devices and sensors. These algorithms can identify patterns and make predictions about user behavior, preferences, and needs, and then use this information to automate and optimize various household functions.</a:t>
            </a:r>
            <a:r>
              <a:rPr lang="en-US" sz="3200" b="0" i="0" dirty="0">
                <a:solidFill>
                  <a:srgbClr val="374151"/>
                </a:solidFill>
                <a:effectLst/>
                <a:latin typeface="Söhne"/>
              </a:rPr>
              <a:t> </a:t>
            </a:r>
            <a:r>
              <a:rPr lang="en-US" sz="3000" b="0" i="0" dirty="0">
                <a:solidFill>
                  <a:srgbClr val="374151"/>
                </a:solidFill>
                <a:effectLst/>
                <a:latin typeface="Times New Roman" panose="02020603050405020304" pitchFamily="18" charset="0"/>
                <a:cs typeface="Times New Roman" panose="02020603050405020304" pitchFamily="18" charset="0"/>
              </a:rPr>
              <a:t>These algorithms are trained on large amounts of data and can continuously improve over time, becoming more accurate and efficient at predicting user behavior.</a:t>
            </a:r>
            <a:endParaRPr lang="en-US" sz="3000" b="0" i="0" dirty="0">
              <a:solidFill>
                <a:schemeClr val="bg1"/>
              </a:solidFill>
              <a:effectLst/>
              <a:latin typeface="Times New Roman" panose="02020603050405020304" pitchFamily="18" charset="0"/>
              <a:cs typeface="Times New Roman" panose="02020603050405020304" pitchFamily="18" charset="0"/>
            </a:endParaRPr>
          </a:p>
          <a:p>
            <a:pPr algn="just"/>
            <a:endParaRPr lang="en-US" sz="1100" b="0" i="0" dirty="0">
              <a:solidFill>
                <a:schemeClr val="bg1"/>
              </a:solidFill>
              <a:effectLst/>
              <a:latin typeface="Times New Roman" panose="02020603050405020304" pitchFamily="18" charset="0"/>
              <a:cs typeface="Times New Roman" panose="02020603050405020304" pitchFamily="18" charset="0"/>
            </a:endParaRPr>
          </a:p>
          <a:p>
            <a:pPr algn="just"/>
            <a:r>
              <a:rPr lang="en-US" sz="3000" b="0" i="0" dirty="0">
                <a:solidFill>
                  <a:schemeClr val="bg1"/>
                </a:solidFill>
                <a:effectLst/>
                <a:latin typeface="Times New Roman" panose="02020603050405020304" pitchFamily="18" charset="0"/>
                <a:cs typeface="Times New Roman" panose="02020603050405020304" pitchFamily="18" charset="0"/>
              </a:rPr>
              <a:t>For example, a smart thermostat that uses AI can learn from a user's behavior to anticipate when they will be home and adjust the temperature accordingly. A security system with AI can detect unusual activity and notify the homeowner, while a smart lighting system can adjust brightness and color temperature based on time of day or user preference.</a:t>
            </a:r>
          </a:p>
        </p:txBody>
      </p:sp>
    </p:spTree>
    <p:extLst>
      <p:ext uri="{BB962C8B-B14F-4D97-AF65-F5344CB8AC3E}">
        <p14:creationId xmlns:p14="http://schemas.microsoft.com/office/powerpoint/2010/main" val="2559914172"/>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extLst>
              <a:ext uri="{BEBA8EAE-BF5A-486C-A8C5-ECC9F3942E4B}">
                <a14:imgProps xmlns:a14="http://schemas.microsoft.com/office/drawing/2010/main">
                  <a14:imgLayer r:embed="rId3">
                    <a14:imgEffect>
                      <a14:artisticPhotocopy trans="0" detail="2"/>
                    </a14:imgEffect>
                    <a14:imgEffect>
                      <a14:sharpenSoften amount="-25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ACB38C1-7422-58FE-AB9B-2CF7BC478167}"/>
              </a:ext>
            </a:extLst>
          </p:cNvPr>
          <p:cNvSpPr txBox="1"/>
          <p:nvPr/>
        </p:nvSpPr>
        <p:spPr>
          <a:xfrm>
            <a:off x="135256" y="300739"/>
            <a:ext cx="11921487" cy="6017032"/>
          </a:xfrm>
          <a:prstGeom prst="rect">
            <a:avLst/>
          </a:prstGeom>
          <a:noFill/>
        </p:spPr>
        <p:txBody>
          <a:bodyPr wrap="square">
            <a:spAutoFit/>
          </a:bodyPr>
          <a:lstStyle/>
          <a:p>
            <a:pPr algn="just"/>
            <a:r>
              <a:rPr lang="en-US" sz="3500" b="0" i="0" dirty="0">
                <a:solidFill>
                  <a:srgbClr val="CC3300"/>
                </a:solidFill>
                <a:effectLst/>
                <a:latin typeface="Times New Roman" panose="02020603050405020304" pitchFamily="18" charset="0"/>
                <a:cs typeface="Times New Roman" panose="02020603050405020304" pitchFamily="18" charset="0"/>
              </a:rPr>
              <a:t>Voice assistants such as Amazon's Alexa and Google Home also use AI to understand and respond to user commands. They can learn from user behavior and preferences, providing personalized recommendations and reminders. These assistants can also integrate with other smart devices in the home, allowing users to control various functions through voice commands.</a:t>
            </a:r>
          </a:p>
          <a:p>
            <a:pPr algn="just"/>
            <a:endParaRPr lang="en-US" sz="3500" b="0" i="0" dirty="0">
              <a:solidFill>
                <a:srgbClr val="CC3300"/>
              </a:solidFill>
              <a:effectLst/>
              <a:latin typeface="Times New Roman" panose="02020603050405020304" pitchFamily="18" charset="0"/>
              <a:cs typeface="Times New Roman" panose="02020603050405020304" pitchFamily="18" charset="0"/>
            </a:endParaRPr>
          </a:p>
          <a:p>
            <a:pPr algn="just"/>
            <a:r>
              <a:rPr lang="en-US" sz="3500" b="0" i="0" dirty="0">
                <a:solidFill>
                  <a:srgbClr val="CC3300"/>
                </a:solidFill>
                <a:effectLst/>
                <a:latin typeface="Times New Roman" panose="02020603050405020304" pitchFamily="18" charset="0"/>
                <a:cs typeface="Times New Roman" panose="02020603050405020304" pitchFamily="18" charset="0"/>
              </a:rPr>
              <a:t>Overall, AI allows smart homes to become more intuitive, convenient, and energy-efficient. By automating routine tasks and optimizing energy usage, AI can save homeowners time, money, and effort while improving their quality of life.</a:t>
            </a:r>
          </a:p>
        </p:txBody>
      </p:sp>
    </p:spTree>
    <p:extLst>
      <p:ext uri="{BB962C8B-B14F-4D97-AF65-F5344CB8AC3E}">
        <p14:creationId xmlns:p14="http://schemas.microsoft.com/office/powerpoint/2010/main" val="3572893805"/>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75FF46-8572-983B-4338-09DC6286F786}"/>
              </a:ext>
            </a:extLst>
          </p:cNvPr>
          <p:cNvSpPr txBox="1"/>
          <p:nvPr/>
        </p:nvSpPr>
        <p:spPr>
          <a:xfrm>
            <a:off x="170329" y="169439"/>
            <a:ext cx="4401671" cy="553998"/>
          </a:xfrm>
          <a:prstGeom prst="rect">
            <a:avLst/>
          </a:prstGeom>
          <a:noFill/>
          <a:ln>
            <a:solidFill>
              <a:schemeClr val="accent1"/>
            </a:solidFill>
          </a:ln>
        </p:spPr>
        <p:txBody>
          <a:bodyPr wrap="square">
            <a:spAutoFit/>
          </a:bodyPr>
          <a:lstStyle/>
          <a:p>
            <a:r>
              <a:rPr lang="en-US" sz="3000" b="0" i="0" u="sng" dirty="0">
                <a:solidFill>
                  <a:srgbClr val="FFFF00"/>
                </a:solidFill>
                <a:effectLst>
                  <a:glow rad="63500">
                    <a:schemeClr val="accent4">
                      <a:satMod val="175000"/>
                      <a:alpha val="40000"/>
                    </a:schemeClr>
                  </a:glow>
                </a:effectLst>
                <a:latin typeface="Times New Roman" panose="02020603050405020304" pitchFamily="18" charset="0"/>
                <a:cs typeface="Times New Roman" panose="02020603050405020304" pitchFamily="18" charset="0"/>
              </a:rPr>
              <a:t>Ex:</a:t>
            </a:r>
            <a:r>
              <a:rPr lang="en-US" sz="3000" b="0" i="0" dirty="0">
                <a:solidFill>
                  <a:srgbClr val="FFFF00"/>
                </a:solidFill>
                <a:effectLst>
                  <a:glow rad="63500">
                    <a:schemeClr val="accent4">
                      <a:satMod val="175000"/>
                      <a:alpha val="40000"/>
                    </a:schemeClr>
                  </a:glow>
                </a:effectLst>
                <a:latin typeface="Times New Roman" panose="02020603050405020304" pitchFamily="18" charset="0"/>
                <a:cs typeface="Times New Roman" panose="02020603050405020304" pitchFamily="18" charset="0"/>
              </a:rPr>
              <a:t>  </a:t>
            </a:r>
            <a:r>
              <a:rPr lang="en-US" sz="3000" b="0" i="0" u="sng" dirty="0">
                <a:solidFill>
                  <a:srgbClr val="FFFF00"/>
                </a:solidFill>
                <a:effectLst>
                  <a:glow rad="63500">
                    <a:schemeClr val="accent4">
                      <a:satMod val="175000"/>
                      <a:alpha val="40000"/>
                    </a:schemeClr>
                  </a:glow>
                </a:effectLst>
                <a:latin typeface="Times New Roman" panose="02020603050405020304" pitchFamily="18" charset="0"/>
                <a:cs typeface="Times New Roman" panose="02020603050405020304" pitchFamily="18" charset="0"/>
              </a:rPr>
              <a:t>Alexa Working Model</a:t>
            </a:r>
            <a:endParaRPr lang="en-US" sz="3000" u="sng" dirty="0">
              <a:solidFill>
                <a:srgbClr val="FFFF00"/>
              </a:solidFill>
              <a:effectLst>
                <a:glow rad="63500">
                  <a:schemeClr val="accent4">
                    <a:satMod val="175000"/>
                    <a:alpha val="40000"/>
                  </a:schemeClr>
                </a:glow>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5D95A5F-F1F8-73DE-2AEC-CE90DF33FB8E}"/>
              </a:ext>
            </a:extLst>
          </p:cNvPr>
          <p:cNvSpPr txBox="1"/>
          <p:nvPr/>
        </p:nvSpPr>
        <p:spPr>
          <a:xfrm>
            <a:off x="98611" y="938819"/>
            <a:ext cx="11851342" cy="5770811"/>
          </a:xfrm>
          <a:prstGeom prst="rect">
            <a:avLst/>
          </a:prstGeom>
          <a:noFill/>
        </p:spPr>
        <p:txBody>
          <a:bodyPr wrap="square">
            <a:spAutoFit/>
          </a:bodyPr>
          <a:lstStyle/>
          <a:p>
            <a:pPr algn="just"/>
            <a:r>
              <a:rPr lang="en-US" sz="2800" b="0" i="0" dirty="0">
                <a:effectLst/>
                <a:latin typeface="Times New Roman" panose="02020603050405020304" pitchFamily="18" charset="0"/>
                <a:cs typeface="Times New Roman" panose="02020603050405020304" pitchFamily="18" charset="0"/>
              </a:rPr>
              <a:t>The working model of Alexa can be divided into four main components: wake word detection, automatic speech recognition, natural language understanding, and action fulfillment. Here is a brief overview of each component:</a:t>
            </a:r>
          </a:p>
          <a:p>
            <a:pPr algn="just"/>
            <a:endParaRPr lang="en-US" sz="1100" b="0" i="0" dirty="0">
              <a:effectLst/>
              <a:latin typeface="Times New Roman" panose="02020603050405020304" pitchFamily="18" charset="0"/>
              <a:cs typeface="Times New Roman" panose="02020603050405020304" pitchFamily="18" charset="0"/>
            </a:endParaRPr>
          </a:p>
          <a:p>
            <a:pPr algn="just"/>
            <a:r>
              <a:rPr lang="en-US" sz="2800" b="0" i="0" dirty="0">
                <a:solidFill>
                  <a:schemeClr val="accent2"/>
                </a:solidFill>
                <a:effectLst/>
                <a:latin typeface="Times New Roman" panose="02020603050405020304" pitchFamily="18" charset="0"/>
                <a:cs typeface="Times New Roman" panose="02020603050405020304" pitchFamily="18" charset="0"/>
              </a:rPr>
              <a:t>1.) </a:t>
            </a:r>
            <a:r>
              <a:rPr lang="en-US" sz="2800" i="0" u="sng" dirty="0">
                <a:solidFill>
                  <a:schemeClr val="accent2"/>
                </a:solidFill>
                <a:effectLst/>
                <a:latin typeface="Times New Roman" panose="02020603050405020304" pitchFamily="18" charset="0"/>
                <a:cs typeface="Times New Roman" panose="02020603050405020304" pitchFamily="18" charset="0"/>
              </a:rPr>
              <a:t>Wake Word Detection</a:t>
            </a:r>
            <a:r>
              <a:rPr lang="en-US" sz="2800" i="0" dirty="0">
                <a:solidFill>
                  <a:schemeClr val="accent2"/>
                </a:solidFill>
                <a:effectLst/>
                <a:latin typeface="Times New Roman" panose="02020603050405020304" pitchFamily="18" charset="0"/>
                <a:cs typeface="Times New Roman" panose="02020603050405020304" pitchFamily="18" charset="0"/>
              </a:rPr>
              <a:t>: </a:t>
            </a:r>
            <a:r>
              <a:rPr lang="en-US" sz="2800" b="0" i="0" dirty="0">
                <a:effectLst/>
                <a:latin typeface="Times New Roman" panose="02020603050405020304" pitchFamily="18" charset="0"/>
                <a:cs typeface="Times New Roman" panose="02020603050405020304" pitchFamily="18" charset="0"/>
              </a:rPr>
              <a:t>The first component of Alexa's working model is wake word detection. When a user says "Alexa," the device wakes up and starts listening for voice commands. The wake word detection technology uses machine learning algorithms to identify the wake word in the audio stream, even in noisy environments.</a:t>
            </a:r>
          </a:p>
          <a:p>
            <a:pPr algn="just"/>
            <a:endParaRPr lang="en-US" sz="1100" dirty="0">
              <a:solidFill>
                <a:srgbClr val="002060"/>
              </a:solidFill>
              <a:latin typeface="Times New Roman" panose="02020603050405020304" pitchFamily="18" charset="0"/>
              <a:cs typeface="Times New Roman" panose="02020603050405020304" pitchFamily="18" charset="0"/>
            </a:endParaRPr>
          </a:p>
          <a:p>
            <a:pPr algn="just"/>
            <a:r>
              <a:rPr lang="en-US" sz="2800" b="0" i="0" dirty="0">
                <a:solidFill>
                  <a:schemeClr val="accent2"/>
                </a:solidFill>
                <a:effectLst/>
                <a:latin typeface="Times New Roman" panose="02020603050405020304" pitchFamily="18" charset="0"/>
                <a:cs typeface="Times New Roman" panose="02020603050405020304" pitchFamily="18" charset="0"/>
              </a:rPr>
              <a:t>2.) </a:t>
            </a:r>
            <a:r>
              <a:rPr lang="en-US" sz="2800" i="0" u="sng" dirty="0">
                <a:solidFill>
                  <a:schemeClr val="accent2"/>
                </a:solidFill>
                <a:effectLst/>
                <a:latin typeface="Times New Roman" panose="02020603050405020304" pitchFamily="18" charset="0"/>
                <a:cs typeface="Times New Roman" panose="02020603050405020304" pitchFamily="18" charset="0"/>
              </a:rPr>
              <a:t>Automatic Speech Recognition</a:t>
            </a:r>
            <a:r>
              <a:rPr lang="en-US" sz="2800" i="0" dirty="0">
                <a:solidFill>
                  <a:schemeClr val="accent2"/>
                </a:solidFill>
                <a:effectLst/>
                <a:latin typeface="Times New Roman" panose="02020603050405020304" pitchFamily="18" charset="0"/>
                <a:cs typeface="Times New Roman" panose="02020603050405020304" pitchFamily="18" charset="0"/>
              </a:rPr>
              <a:t>: </a:t>
            </a:r>
            <a:r>
              <a:rPr lang="en-US" sz="2800" b="0" i="0" dirty="0">
                <a:effectLst/>
                <a:latin typeface="Times New Roman" panose="02020603050405020304" pitchFamily="18" charset="0"/>
                <a:cs typeface="Times New Roman" panose="02020603050405020304" pitchFamily="18" charset="0"/>
              </a:rPr>
              <a:t>The second component of Alexa's working model is automatic speech recognition (ASR). Once the device detects the wake word, it captures the audio and sends it to Amazon's cloud-based ASR service. The ASR service uses neural networks to convert the audio into text.</a:t>
            </a:r>
          </a:p>
          <a:p>
            <a:pPr algn="just"/>
            <a:endParaRPr lang="en-US" sz="11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1964002"/>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extLst>
              <a:ext uri="{BEBA8EAE-BF5A-486C-A8C5-ECC9F3942E4B}">
                <a14:imgProps xmlns:a14="http://schemas.microsoft.com/office/drawing/2010/main">
                  <a14:imgLayer r:embed="rId3">
                    <a14:imgEffect>
                      <a14:brightnessContrast bright="-40000" contrast="-40000"/>
                    </a14:imgEffect>
                  </a14:imgLayer>
                </a14:imgProps>
              </a:ext>
            </a:extLst>
          </a:blip>
          <a:srcRect/>
          <a:stretch>
            <a:fillRect t="-3000" b="-3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B0DE5AF-27EC-22B0-C09B-DF794AB2222C}"/>
              </a:ext>
            </a:extLst>
          </p:cNvPr>
          <p:cNvSpPr txBox="1"/>
          <p:nvPr/>
        </p:nvSpPr>
        <p:spPr>
          <a:xfrm>
            <a:off x="0" y="0"/>
            <a:ext cx="12192000" cy="6986528"/>
          </a:xfrm>
          <a:prstGeom prst="rect">
            <a:avLst/>
          </a:prstGeom>
          <a:noFill/>
        </p:spPr>
        <p:txBody>
          <a:bodyPr wrap="square">
            <a:spAutoFit/>
          </a:bodyPr>
          <a:lstStyle/>
          <a:p>
            <a:pPr algn="just"/>
            <a:r>
              <a:rPr lang="en-US" sz="3000" b="0" i="0" dirty="0">
                <a:solidFill>
                  <a:schemeClr val="accent2"/>
                </a:solidFill>
                <a:effectLst/>
                <a:latin typeface="Times New Roman" panose="02020603050405020304" pitchFamily="18" charset="0"/>
                <a:cs typeface="Times New Roman" panose="02020603050405020304" pitchFamily="18" charset="0"/>
              </a:rPr>
              <a:t>3.) </a:t>
            </a:r>
            <a:r>
              <a:rPr lang="en-US" sz="3000" b="0" i="0" u="sng" dirty="0">
                <a:solidFill>
                  <a:schemeClr val="accent2"/>
                </a:solidFill>
                <a:effectLst/>
                <a:latin typeface="Times New Roman" panose="02020603050405020304" pitchFamily="18" charset="0"/>
                <a:cs typeface="Times New Roman" panose="02020603050405020304" pitchFamily="18" charset="0"/>
              </a:rPr>
              <a:t>Natural Language Understanding</a:t>
            </a:r>
            <a:r>
              <a:rPr lang="en-US" sz="3000" b="0" i="0" dirty="0">
                <a:solidFill>
                  <a:schemeClr val="accent2"/>
                </a:solidFill>
                <a:effectLst/>
                <a:latin typeface="Times New Roman" panose="02020603050405020304" pitchFamily="18" charset="0"/>
                <a:cs typeface="Times New Roman" panose="02020603050405020304" pitchFamily="18" charset="0"/>
              </a:rPr>
              <a:t>: </a:t>
            </a:r>
            <a:r>
              <a:rPr lang="en-US" sz="3000" b="0" i="0" dirty="0">
                <a:effectLst/>
                <a:latin typeface="Times New Roman" panose="02020603050405020304" pitchFamily="18" charset="0"/>
                <a:cs typeface="Times New Roman" panose="02020603050405020304" pitchFamily="18" charset="0"/>
              </a:rPr>
              <a:t>The third component of Alexa's working model is natural language understanding (NLU). Once the ASR service converts the audio into text, it sends the text to another cloud-based service called the NLU service. The NLU service uses machine learning algorithms to understand the user's intent and extract relevant information from the text.</a:t>
            </a:r>
          </a:p>
          <a:p>
            <a:pPr algn="just"/>
            <a:endParaRPr lang="en-US" sz="1100" b="0" i="0" dirty="0">
              <a:effectLst/>
              <a:latin typeface="Times New Roman" panose="02020603050405020304" pitchFamily="18" charset="0"/>
              <a:cs typeface="Times New Roman" panose="02020603050405020304" pitchFamily="18" charset="0"/>
            </a:endParaRPr>
          </a:p>
          <a:p>
            <a:pPr algn="just"/>
            <a:r>
              <a:rPr lang="en-US" sz="3000" b="0" i="0" dirty="0">
                <a:solidFill>
                  <a:schemeClr val="accent2"/>
                </a:solidFill>
                <a:effectLst/>
                <a:latin typeface="Times New Roman" panose="02020603050405020304" pitchFamily="18" charset="0"/>
                <a:cs typeface="Times New Roman" panose="02020603050405020304" pitchFamily="18" charset="0"/>
              </a:rPr>
              <a:t>4.) </a:t>
            </a:r>
            <a:r>
              <a:rPr lang="en-US" sz="3000" b="0" i="0" u="sng" dirty="0">
                <a:solidFill>
                  <a:schemeClr val="accent2"/>
                </a:solidFill>
                <a:effectLst/>
                <a:latin typeface="Times New Roman" panose="02020603050405020304" pitchFamily="18" charset="0"/>
                <a:cs typeface="Times New Roman" panose="02020603050405020304" pitchFamily="18" charset="0"/>
              </a:rPr>
              <a:t>Action Fulfillment</a:t>
            </a:r>
            <a:r>
              <a:rPr lang="en-US" sz="3000" b="0" i="0" dirty="0">
                <a:solidFill>
                  <a:schemeClr val="accent2"/>
                </a:solidFill>
                <a:effectLst/>
                <a:latin typeface="Times New Roman" panose="02020603050405020304" pitchFamily="18" charset="0"/>
                <a:cs typeface="Times New Roman" panose="02020603050405020304" pitchFamily="18" charset="0"/>
              </a:rPr>
              <a:t>: </a:t>
            </a:r>
            <a:r>
              <a:rPr lang="en-US" sz="3000" b="0" i="0" dirty="0">
                <a:effectLst/>
                <a:latin typeface="Times New Roman" panose="02020603050405020304" pitchFamily="18" charset="0"/>
                <a:cs typeface="Times New Roman" panose="02020603050405020304" pitchFamily="18" charset="0"/>
              </a:rPr>
              <a:t>The final component of Alexa's working model is action fulfillment. Once the NLU service understands the user's intent and extracts relevant information, it sends a request to the appropriate service or skill to perform the desired action. For example, if a user asks Alexa to play a song, the NLU service sends a request to the music streaming service to play the requested song.</a:t>
            </a:r>
          </a:p>
          <a:p>
            <a:pPr algn="just"/>
            <a:endParaRPr lang="en-US" sz="1100" b="0" i="0" dirty="0">
              <a:effectLst/>
              <a:latin typeface="Times New Roman" panose="02020603050405020304" pitchFamily="18" charset="0"/>
              <a:cs typeface="Times New Roman" panose="02020603050405020304" pitchFamily="18" charset="0"/>
            </a:endParaRPr>
          </a:p>
          <a:p>
            <a:pPr algn="just"/>
            <a:r>
              <a:rPr lang="en-US" sz="3000" b="0" i="0" dirty="0">
                <a:effectLst/>
                <a:latin typeface="Times New Roman" panose="02020603050405020304" pitchFamily="18" charset="0"/>
                <a:cs typeface="Times New Roman" panose="02020603050405020304" pitchFamily="18" charset="0"/>
              </a:rPr>
              <a:t>The working model of Alexa is a complex system that depends on advanced machine learning algorithms and cloud-based services to offer a smooth and effortless user experience.</a:t>
            </a:r>
          </a:p>
        </p:txBody>
      </p:sp>
    </p:spTree>
    <p:extLst>
      <p:ext uri="{BB962C8B-B14F-4D97-AF65-F5344CB8AC3E}">
        <p14:creationId xmlns:p14="http://schemas.microsoft.com/office/powerpoint/2010/main" val="3957622286"/>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D3D674F-F2A5-CB80-C176-0F3EB70E7EAE}"/>
              </a:ext>
            </a:extLst>
          </p:cNvPr>
          <p:cNvSpPr txBox="1"/>
          <p:nvPr/>
        </p:nvSpPr>
        <p:spPr>
          <a:xfrm>
            <a:off x="-1" y="0"/>
            <a:ext cx="9398525" cy="784830"/>
          </a:xfrm>
          <a:prstGeom prst="rect">
            <a:avLst/>
          </a:prstGeom>
          <a:noFill/>
        </p:spPr>
        <p:txBody>
          <a:bodyPr wrap="square">
            <a:spAutoFit/>
          </a:bodyPr>
          <a:lstStyle/>
          <a:p>
            <a:r>
              <a:rPr lang="en-US" sz="4500" b="1" i="0" u="sng" spc="50" dirty="0">
                <a:ln w="9525" cmpd="sng">
                  <a:solidFill>
                    <a:schemeClr val="accent1"/>
                  </a:solidFill>
                  <a:prstDash val="solid"/>
                </a:ln>
                <a:solidFill>
                  <a:srgbClr val="70AD47">
                    <a:tint val="1000"/>
                  </a:srgbClr>
                </a:solidFill>
                <a:effectLst>
                  <a:glow rad="38100">
                    <a:schemeClr val="accent1">
                      <a:alpha val="40000"/>
                    </a:schemeClr>
                  </a:glow>
                </a:effectLst>
                <a:latin typeface="Times New Roman" panose="02020603050405020304" pitchFamily="18" charset="0"/>
                <a:cs typeface="Times New Roman" panose="02020603050405020304" pitchFamily="18" charset="0"/>
              </a:rPr>
              <a:t>Applications of AI in Smart Homes</a:t>
            </a:r>
            <a:endParaRPr lang="en-US" sz="4500" b="1" u="sng" spc="50" dirty="0">
              <a:ln w="9525" cmpd="sng">
                <a:solidFill>
                  <a:schemeClr val="accent1"/>
                </a:solidFill>
                <a:prstDash val="solid"/>
              </a:ln>
              <a:solidFill>
                <a:srgbClr val="70AD47">
                  <a:tint val="1000"/>
                </a:srgbClr>
              </a:solidFill>
              <a:effectLst>
                <a:glow rad="38100">
                  <a:schemeClr val="accent1">
                    <a:alpha val="40000"/>
                  </a:schemeClr>
                </a:glow>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B5285AE-A71D-BEF2-282E-10B400CF2FAE}"/>
              </a:ext>
            </a:extLst>
          </p:cNvPr>
          <p:cNvSpPr txBox="1"/>
          <p:nvPr/>
        </p:nvSpPr>
        <p:spPr>
          <a:xfrm>
            <a:off x="-358218" y="953101"/>
            <a:ext cx="11538408" cy="5970865"/>
          </a:xfrm>
          <a:prstGeom prst="rect">
            <a:avLst/>
          </a:prstGeom>
          <a:noFill/>
        </p:spPr>
        <p:txBody>
          <a:bodyPr wrap="square">
            <a:spAutoFit/>
          </a:bodyPr>
          <a:lstStyle/>
          <a:p>
            <a:pPr lvl="1" algn="just"/>
            <a:r>
              <a:rPr lang="en-US" sz="3000" b="0" i="0" dirty="0">
                <a:effectLst/>
                <a:latin typeface="Times New Roman" panose="02020603050405020304" pitchFamily="18" charset="0"/>
                <a:cs typeface="Times New Roman" panose="02020603050405020304" pitchFamily="18" charset="0"/>
              </a:rPr>
              <a:t>AI has many applications in smart homes, including:</a:t>
            </a:r>
          </a:p>
          <a:p>
            <a:pPr lvl="1" algn="just"/>
            <a:endParaRPr lang="en-US" sz="1100" b="0" i="0" dirty="0">
              <a:effectLst/>
              <a:latin typeface="Times New Roman" panose="02020603050405020304" pitchFamily="18" charset="0"/>
              <a:cs typeface="Times New Roman" panose="02020603050405020304" pitchFamily="18" charset="0"/>
            </a:endParaRPr>
          </a:p>
          <a:p>
            <a:pPr lvl="1" algn="just"/>
            <a:r>
              <a:rPr lang="en-US" sz="3000" b="0" i="0" dirty="0">
                <a:solidFill>
                  <a:schemeClr val="accent1"/>
                </a:solidFill>
                <a:effectLst/>
                <a:latin typeface="Times New Roman" panose="02020603050405020304" pitchFamily="18" charset="0"/>
                <a:cs typeface="Times New Roman" panose="02020603050405020304" pitchFamily="18" charset="0"/>
              </a:rPr>
              <a:t>1.) </a:t>
            </a:r>
            <a:r>
              <a:rPr lang="en-US" sz="3000" b="0" i="0" u="sng" dirty="0">
                <a:solidFill>
                  <a:schemeClr val="accent1"/>
                </a:solidFill>
                <a:effectLst/>
                <a:latin typeface="Times New Roman" panose="02020603050405020304" pitchFamily="18" charset="0"/>
                <a:cs typeface="Times New Roman" panose="02020603050405020304" pitchFamily="18" charset="0"/>
              </a:rPr>
              <a:t>Energy Management</a:t>
            </a:r>
            <a:r>
              <a:rPr lang="en-US" sz="3000" b="0" i="0" dirty="0">
                <a:solidFill>
                  <a:schemeClr val="accent1"/>
                </a:solidFill>
                <a:effectLst/>
                <a:latin typeface="Times New Roman" panose="02020603050405020304" pitchFamily="18" charset="0"/>
                <a:cs typeface="Times New Roman" panose="02020603050405020304" pitchFamily="18" charset="0"/>
              </a:rPr>
              <a:t>: </a:t>
            </a:r>
            <a:r>
              <a:rPr lang="en-US" sz="3000" b="0" i="0" dirty="0">
                <a:effectLst/>
                <a:latin typeface="Times New Roman" panose="02020603050405020304" pitchFamily="18" charset="0"/>
                <a:cs typeface="Times New Roman" panose="02020603050405020304" pitchFamily="18" charset="0"/>
              </a:rPr>
              <a:t>AI can be used to optimize energy usage in smart homes. Smart thermostats can use machine learning algorithms to learn user preferences and adjust the temperature accordingly, resulting in energy savings. Smart lighting systems can also use AI to adjust brightness and color temperature based on time of day, user behavior, and preferences.</a:t>
            </a:r>
          </a:p>
          <a:p>
            <a:pPr lvl="1" algn="just"/>
            <a:endParaRPr lang="en-US" sz="1100" b="0" i="0" dirty="0">
              <a:effectLst/>
              <a:latin typeface="Times New Roman" panose="02020603050405020304" pitchFamily="18" charset="0"/>
              <a:cs typeface="Times New Roman" panose="02020603050405020304" pitchFamily="18" charset="0"/>
            </a:endParaRPr>
          </a:p>
          <a:p>
            <a:pPr lvl="1" algn="just"/>
            <a:r>
              <a:rPr lang="en-US" sz="3000" b="0" i="0" dirty="0">
                <a:solidFill>
                  <a:schemeClr val="accent1"/>
                </a:solidFill>
                <a:effectLst/>
                <a:latin typeface="Times New Roman" panose="02020603050405020304" pitchFamily="18" charset="0"/>
                <a:cs typeface="Times New Roman" panose="02020603050405020304" pitchFamily="18" charset="0"/>
              </a:rPr>
              <a:t>2.) </a:t>
            </a:r>
            <a:r>
              <a:rPr lang="en-US" sz="3000" b="0" i="0" u="sng" dirty="0">
                <a:solidFill>
                  <a:schemeClr val="accent1"/>
                </a:solidFill>
                <a:effectLst/>
                <a:latin typeface="Times New Roman" panose="02020603050405020304" pitchFamily="18" charset="0"/>
                <a:cs typeface="Times New Roman" panose="02020603050405020304" pitchFamily="18" charset="0"/>
              </a:rPr>
              <a:t>Home Security</a:t>
            </a:r>
            <a:r>
              <a:rPr lang="en-US" sz="3000" b="0" i="0" dirty="0">
                <a:solidFill>
                  <a:schemeClr val="accent1"/>
                </a:solidFill>
                <a:effectLst/>
                <a:latin typeface="Times New Roman" panose="02020603050405020304" pitchFamily="18" charset="0"/>
                <a:cs typeface="Times New Roman" panose="02020603050405020304" pitchFamily="18" charset="0"/>
              </a:rPr>
              <a:t>: </a:t>
            </a:r>
            <a:r>
              <a:rPr lang="en-US" sz="3000" b="0" i="0" dirty="0">
                <a:effectLst/>
                <a:latin typeface="Times New Roman" panose="02020603050405020304" pitchFamily="18" charset="0"/>
                <a:cs typeface="Times New Roman" panose="02020603050405020304" pitchFamily="18" charset="0"/>
              </a:rPr>
              <a:t>AI can be used for security and surveillance in smart homes. Smart cameras and sensors can use machine learning algorithms to detect unusual activity and send alerts to the homeowner's phone. Facial recognition technology can also be used to identify authorized individuals and prevent unauthorized access.</a:t>
            </a:r>
          </a:p>
        </p:txBody>
      </p:sp>
    </p:spTree>
    <p:extLst>
      <p:ext uri="{BB962C8B-B14F-4D97-AF65-F5344CB8AC3E}">
        <p14:creationId xmlns:p14="http://schemas.microsoft.com/office/powerpoint/2010/main" val="255794908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wind"/>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F5A43A4-ABB8-6FB1-35EE-E57F694D6F8F}"/>
              </a:ext>
            </a:extLst>
          </p:cNvPr>
          <p:cNvSpPr txBox="1"/>
          <p:nvPr/>
        </p:nvSpPr>
        <p:spPr>
          <a:xfrm>
            <a:off x="109979" y="0"/>
            <a:ext cx="11972041" cy="6832640"/>
          </a:xfrm>
          <a:prstGeom prst="rect">
            <a:avLst/>
          </a:prstGeom>
          <a:noFill/>
        </p:spPr>
        <p:txBody>
          <a:bodyPr wrap="square">
            <a:spAutoFit/>
          </a:bodyPr>
          <a:lstStyle/>
          <a:p>
            <a:pPr algn="just"/>
            <a:r>
              <a:rPr lang="en-US" sz="3000" b="0" i="0" dirty="0">
                <a:solidFill>
                  <a:schemeClr val="accent1"/>
                </a:solidFill>
                <a:effectLst/>
                <a:latin typeface="Times New Roman" panose="02020603050405020304" pitchFamily="18" charset="0"/>
                <a:cs typeface="Times New Roman" panose="02020603050405020304" pitchFamily="18" charset="0"/>
              </a:rPr>
              <a:t>3.)</a:t>
            </a:r>
            <a:r>
              <a:rPr lang="en-US" sz="3000" dirty="0">
                <a:solidFill>
                  <a:schemeClr val="accent1"/>
                </a:solidFill>
                <a:latin typeface="Times New Roman" panose="02020603050405020304" pitchFamily="18" charset="0"/>
                <a:cs typeface="Times New Roman" panose="02020603050405020304" pitchFamily="18" charset="0"/>
              </a:rPr>
              <a:t> </a:t>
            </a:r>
            <a:r>
              <a:rPr lang="en-US" sz="3000" b="0" i="0" u="sng" dirty="0">
                <a:solidFill>
                  <a:schemeClr val="accent1"/>
                </a:solidFill>
                <a:effectLst/>
                <a:latin typeface="Times New Roman" panose="02020603050405020304" pitchFamily="18" charset="0"/>
                <a:cs typeface="Times New Roman" panose="02020603050405020304" pitchFamily="18" charset="0"/>
              </a:rPr>
              <a:t>Voice Assistants</a:t>
            </a:r>
            <a:r>
              <a:rPr lang="en-US" sz="3000" b="0" i="0" dirty="0">
                <a:solidFill>
                  <a:schemeClr val="accent1"/>
                </a:solidFill>
                <a:effectLst/>
                <a:latin typeface="Times New Roman" panose="02020603050405020304" pitchFamily="18" charset="0"/>
                <a:cs typeface="Times New Roman" panose="02020603050405020304" pitchFamily="18" charset="0"/>
              </a:rPr>
              <a:t>: </a:t>
            </a:r>
            <a:r>
              <a:rPr lang="en-US" sz="3000" b="0" i="0" dirty="0">
                <a:effectLst/>
                <a:latin typeface="Times New Roman" panose="02020603050405020304" pitchFamily="18" charset="0"/>
                <a:cs typeface="Times New Roman" panose="02020603050405020304" pitchFamily="18" charset="0"/>
              </a:rPr>
              <a:t>Voice assistants such as Amazon's Alexa and Google Home use AI to understand and respond to user commands. They can learn from user behavior and preferences, providing personalized recommendations and reminders. These assistants can also integrate with other smart devices in the home, allowing users to control various functions through voice commands.</a:t>
            </a:r>
          </a:p>
          <a:p>
            <a:pPr algn="just"/>
            <a:endParaRPr lang="en-US" sz="900" b="0" i="0" dirty="0">
              <a:effectLst/>
              <a:latin typeface="Times New Roman" panose="02020603050405020304" pitchFamily="18" charset="0"/>
              <a:cs typeface="Times New Roman" panose="02020603050405020304" pitchFamily="18" charset="0"/>
            </a:endParaRPr>
          </a:p>
          <a:p>
            <a:pPr algn="just"/>
            <a:r>
              <a:rPr lang="en-US" sz="3000" b="0" i="0" dirty="0">
                <a:solidFill>
                  <a:schemeClr val="accent1"/>
                </a:solidFill>
                <a:effectLst/>
                <a:latin typeface="Times New Roman" panose="02020603050405020304" pitchFamily="18" charset="0"/>
                <a:cs typeface="Times New Roman" panose="02020603050405020304" pitchFamily="18" charset="0"/>
              </a:rPr>
              <a:t>4.) </a:t>
            </a:r>
            <a:r>
              <a:rPr lang="en-US" sz="3000" b="0" i="0" u="sng" dirty="0">
                <a:solidFill>
                  <a:schemeClr val="accent1"/>
                </a:solidFill>
                <a:effectLst/>
                <a:latin typeface="Times New Roman" panose="02020603050405020304" pitchFamily="18" charset="0"/>
                <a:cs typeface="Times New Roman" panose="02020603050405020304" pitchFamily="18" charset="0"/>
              </a:rPr>
              <a:t>Predictive Maintenance</a:t>
            </a:r>
            <a:r>
              <a:rPr lang="en-US" sz="3000" b="0" i="0" dirty="0">
                <a:solidFill>
                  <a:schemeClr val="accent1"/>
                </a:solidFill>
                <a:effectLst/>
                <a:latin typeface="Times New Roman" panose="02020603050405020304" pitchFamily="18" charset="0"/>
                <a:cs typeface="Times New Roman" panose="02020603050405020304" pitchFamily="18" charset="0"/>
              </a:rPr>
              <a:t>: </a:t>
            </a:r>
            <a:r>
              <a:rPr lang="en-US" sz="3000" b="0" i="0" dirty="0">
                <a:effectLst/>
                <a:latin typeface="Times New Roman" panose="02020603050405020304" pitchFamily="18" charset="0"/>
                <a:cs typeface="Times New Roman" panose="02020603050405020304" pitchFamily="18" charset="0"/>
              </a:rPr>
              <a:t>AI can be used for predictive maintenance, where smart devices can detect potential issues before they become major problems. For example, a smart water leak detector can use AI to detect leaks and send an alert to the homeowner's phone.</a:t>
            </a:r>
          </a:p>
          <a:p>
            <a:pPr algn="just"/>
            <a:endParaRPr lang="en-US" sz="900" b="0" i="0" dirty="0">
              <a:effectLst/>
              <a:latin typeface="Times New Roman" panose="02020603050405020304" pitchFamily="18" charset="0"/>
              <a:cs typeface="Times New Roman" panose="02020603050405020304" pitchFamily="18" charset="0"/>
            </a:endParaRPr>
          </a:p>
          <a:p>
            <a:pPr algn="just"/>
            <a:r>
              <a:rPr lang="en-US" sz="3000" b="0" i="0" dirty="0">
                <a:solidFill>
                  <a:schemeClr val="accent1"/>
                </a:solidFill>
                <a:effectLst/>
                <a:latin typeface="Times New Roman" panose="02020603050405020304" pitchFamily="18" charset="0"/>
                <a:cs typeface="Times New Roman" panose="02020603050405020304" pitchFamily="18" charset="0"/>
              </a:rPr>
              <a:t>5.) </a:t>
            </a:r>
            <a:r>
              <a:rPr lang="en-US" sz="3000" b="0" i="0" u="sng" dirty="0">
                <a:solidFill>
                  <a:schemeClr val="accent1"/>
                </a:solidFill>
                <a:effectLst/>
                <a:latin typeface="Times New Roman" panose="02020603050405020304" pitchFamily="18" charset="0"/>
                <a:cs typeface="Times New Roman" panose="02020603050405020304" pitchFamily="18" charset="0"/>
              </a:rPr>
              <a:t>Health and Wellness</a:t>
            </a:r>
            <a:r>
              <a:rPr lang="en-US" sz="3000" b="0" i="0" dirty="0">
                <a:solidFill>
                  <a:schemeClr val="accent1"/>
                </a:solidFill>
                <a:effectLst/>
                <a:latin typeface="Times New Roman" panose="02020603050405020304" pitchFamily="18" charset="0"/>
                <a:cs typeface="Times New Roman" panose="02020603050405020304" pitchFamily="18" charset="0"/>
              </a:rPr>
              <a:t>: </a:t>
            </a:r>
            <a:r>
              <a:rPr lang="en-US" sz="3000" b="0" i="0" dirty="0">
                <a:effectLst/>
                <a:latin typeface="Times New Roman" panose="02020603050405020304" pitchFamily="18" charset="0"/>
                <a:cs typeface="Times New Roman" panose="02020603050405020304" pitchFamily="18" charset="0"/>
              </a:rPr>
              <a:t>AI can be used to monitor and improve the health and wellness of occupants in smart homes. Smart devices can track activity levels, sleep patterns, and even detect potential health issues such as falls or abnormal vital signs.</a:t>
            </a:r>
          </a:p>
        </p:txBody>
      </p:sp>
    </p:spTree>
    <p:extLst>
      <p:ext uri="{BB962C8B-B14F-4D97-AF65-F5344CB8AC3E}">
        <p14:creationId xmlns:p14="http://schemas.microsoft.com/office/powerpoint/2010/main" val="344958878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3AABEB-677A-27EF-9997-EC003679DA1D}"/>
              </a:ext>
            </a:extLst>
          </p:cNvPr>
          <p:cNvSpPr txBox="1"/>
          <p:nvPr/>
        </p:nvSpPr>
        <p:spPr>
          <a:xfrm>
            <a:off x="-192505" y="113535"/>
            <a:ext cx="12240126" cy="4708981"/>
          </a:xfrm>
          <a:prstGeom prst="rect">
            <a:avLst/>
          </a:prstGeom>
          <a:noFill/>
        </p:spPr>
        <p:txBody>
          <a:bodyPr wrap="square">
            <a:spAutoFit/>
          </a:bodyPr>
          <a:lstStyle/>
          <a:p>
            <a:pPr lvl="1" algn="just"/>
            <a:r>
              <a:rPr lang="en-US" sz="3000" b="0" i="0" dirty="0">
                <a:solidFill>
                  <a:schemeClr val="accent1"/>
                </a:solidFill>
                <a:effectLst/>
                <a:latin typeface="Times New Roman" panose="02020603050405020304" pitchFamily="18" charset="0"/>
                <a:cs typeface="Times New Roman" panose="02020603050405020304" pitchFamily="18" charset="0"/>
              </a:rPr>
              <a:t>6.) </a:t>
            </a:r>
            <a:r>
              <a:rPr lang="en-US" sz="3000" b="0" i="0" u="sng" dirty="0">
                <a:solidFill>
                  <a:schemeClr val="accent1"/>
                </a:solidFill>
                <a:effectLst/>
                <a:latin typeface="Times New Roman" panose="02020603050405020304" pitchFamily="18" charset="0"/>
                <a:cs typeface="Times New Roman" panose="02020603050405020304" pitchFamily="18" charset="0"/>
              </a:rPr>
              <a:t>Home Entertainment</a:t>
            </a:r>
            <a:r>
              <a:rPr lang="en-US" sz="3000" b="0" i="0" dirty="0">
                <a:solidFill>
                  <a:schemeClr val="accent1"/>
                </a:solidFill>
                <a:effectLst/>
                <a:latin typeface="Times New Roman" panose="02020603050405020304" pitchFamily="18" charset="0"/>
                <a:cs typeface="Times New Roman" panose="02020603050405020304" pitchFamily="18" charset="0"/>
              </a:rPr>
              <a:t>: </a:t>
            </a:r>
            <a:r>
              <a:rPr lang="en-US" sz="3000" b="0" i="0" dirty="0">
                <a:effectLst/>
                <a:latin typeface="Times New Roman" panose="02020603050405020304" pitchFamily="18" charset="0"/>
                <a:cs typeface="Times New Roman" panose="02020603050405020304" pitchFamily="18" charset="0"/>
              </a:rPr>
              <a:t>AI can be used to enhance home entertainment experiences, by providing personalized recommendations for movies, TV shows, and music based on user preferences.</a:t>
            </a:r>
          </a:p>
          <a:p>
            <a:pPr lvl="1" algn="just"/>
            <a:endParaRPr lang="en-US" sz="3000" b="0" i="0" dirty="0">
              <a:effectLst/>
              <a:latin typeface="Times New Roman" panose="02020603050405020304" pitchFamily="18" charset="0"/>
              <a:cs typeface="Times New Roman" panose="02020603050405020304" pitchFamily="18" charset="0"/>
            </a:endParaRPr>
          </a:p>
          <a:p>
            <a:pPr lvl="1" algn="just"/>
            <a:r>
              <a:rPr lang="en-US" sz="3000" b="0" i="0" dirty="0">
                <a:effectLst/>
                <a:latin typeface="Times New Roman" panose="02020603050405020304" pitchFamily="18" charset="0"/>
                <a:cs typeface="Times New Roman" panose="02020603050405020304" pitchFamily="18" charset="0"/>
              </a:rPr>
              <a:t>Overall, AI has many applications in smart homes, providing benefits such as increased convenience, energy savings, improved security and safety, and enhanced entertainment experiences. As the technology continues to advance, more innovative applications of AI in smart homes are likely to emerge, creating even more opportunities for homeowners to live smarter and more sustainable lives.</a:t>
            </a:r>
          </a:p>
        </p:txBody>
      </p:sp>
    </p:spTree>
    <p:extLst>
      <p:ext uri="{BB962C8B-B14F-4D97-AF65-F5344CB8AC3E}">
        <p14:creationId xmlns:p14="http://schemas.microsoft.com/office/powerpoint/2010/main" val="197268923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5972D2D-183B-F84D-B648-B66442CEE2BE}"/>
              </a:ext>
            </a:extLst>
          </p:cNvPr>
          <p:cNvSpPr txBox="1"/>
          <p:nvPr/>
        </p:nvSpPr>
        <p:spPr>
          <a:xfrm>
            <a:off x="112293" y="116124"/>
            <a:ext cx="7355307" cy="553998"/>
          </a:xfrm>
          <a:prstGeom prst="rect">
            <a:avLst/>
          </a:prstGeom>
          <a:noFill/>
        </p:spPr>
        <p:txBody>
          <a:bodyPr wrap="square">
            <a:spAutoFit/>
          </a:bodyPr>
          <a:lstStyle/>
          <a:p>
            <a:r>
              <a:rPr lang="en-US" sz="3000" u="sng" dirty="0">
                <a:effectLst>
                  <a:glow rad="139700">
                    <a:schemeClr val="accent2">
                      <a:satMod val="175000"/>
                      <a:alpha val="40000"/>
                    </a:schemeClr>
                  </a:glow>
                </a:effectLst>
                <a:latin typeface="Times New Roman" panose="02020603050405020304" pitchFamily="18" charset="0"/>
                <a:cs typeface="Times New Roman" panose="02020603050405020304" pitchFamily="18" charset="0"/>
              </a:rPr>
              <a:t>PROS  and  CONS  Of  AI  in  Smart  Homes</a:t>
            </a:r>
          </a:p>
        </p:txBody>
      </p:sp>
      <p:sp>
        <p:nvSpPr>
          <p:cNvPr id="8" name="TextBox 7">
            <a:extLst>
              <a:ext uri="{FF2B5EF4-FFF2-40B4-BE49-F238E27FC236}">
                <a16:creationId xmlns:a16="http://schemas.microsoft.com/office/drawing/2014/main" id="{CC122F61-A844-C909-1E29-F331ED20DDF3}"/>
              </a:ext>
            </a:extLst>
          </p:cNvPr>
          <p:cNvSpPr txBox="1"/>
          <p:nvPr/>
        </p:nvSpPr>
        <p:spPr>
          <a:xfrm>
            <a:off x="112293" y="895137"/>
            <a:ext cx="6149788" cy="553998"/>
          </a:xfrm>
          <a:prstGeom prst="rect">
            <a:avLst/>
          </a:prstGeom>
          <a:noFill/>
        </p:spPr>
        <p:txBody>
          <a:bodyPr wrap="square">
            <a:spAutoFit/>
          </a:bodyPr>
          <a:lstStyle/>
          <a:p>
            <a:r>
              <a:rPr lang="en-US" sz="3000" u="sng" dirty="0">
                <a:solidFill>
                  <a:schemeClr val="accent3"/>
                </a:solidFill>
                <a:latin typeface="Times New Roman" panose="02020603050405020304" pitchFamily="18" charset="0"/>
                <a:cs typeface="Times New Roman" panose="02020603050405020304" pitchFamily="18" charset="0"/>
              </a:rPr>
              <a:t>PROS:-</a:t>
            </a:r>
          </a:p>
        </p:txBody>
      </p:sp>
      <p:sp>
        <p:nvSpPr>
          <p:cNvPr id="11" name="Rectangle 3">
            <a:extLst>
              <a:ext uri="{FF2B5EF4-FFF2-40B4-BE49-F238E27FC236}">
                <a16:creationId xmlns:a16="http://schemas.microsoft.com/office/drawing/2014/main" id="{7671C721-D690-4CED-460F-65B5E2365ECF}"/>
              </a:ext>
            </a:extLst>
          </p:cNvPr>
          <p:cNvSpPr>
            <a:spLocks noChangeArrowheads="1"/>
          </p:cNvSpPr>
          <p:nvPr/>
        </p:nvSpPr>
        <p:spPr bwMode="auto">
          <a:xfrm>
            <a:off x="1" y="1479911"/>
            <a:ext cx="12192000" cy="5894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Artificial Intelligence (AI) can bring many benefits to smart homes, including:</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2700" b="0" i="0" u="none" strike="noStrike" cap="none" normalizeH="0" baseline="0" dirty="0">
                <a:ln>
                  <a:noFill/>
                </a:ln>
                <a:solidFill>
                  <a:schemeClr val="accent2"/>
                </a:solidFill>
                <a:effectLst/>
                <a:latin typeface="Times New Roman" panose="02020603050405020304" pitchFamily="18" charset="0"/>
                <a:cs typeface="Times New Roman" panose="02020603050405020304" pitchFamily="18" charset="0"/>
              </a:rPr>
              <a:t>1.) </a:t>
            </a:r>
            <a:r>
              <a:rPr kumimoji="0" lang="en-US" altLang="en-US" sz="2700" b="0" i="0" u="sng" strike="noStrike" cap="none" normalizeH="0" baseline="0" dirty="0">
                <a:ln>
                  <a:noFill/>
                </a:ln>
                <a:solidFill>
                  <a:schemeClr val="accent2"/>
                </a:solidFill>
                <a:effectLst/>
                <a:latin typeface="Times New Roman" panose="02020603050405020304" pitchFamily="18" charset="0"/>
                <a:cs typeface="Times New Roman" panose="02020603050405020304" pitchFamily="18" charset="0"/>
              </a:rPr>
              <a:t>Increased convenience</a:t>
            </a:r>
            <a:r>
              <a:rPr kumimoji="0" lang="en-US" altLang="en-US" sz="2700" b="0" i="0" u="none" strike="noStrike" cap="none" normalizeH="0" baseline="0" dirty="0">
                <a:ln>
                  <a:noFill/>
                </a:ln>
                <a:solidFill>
                  <a:schemeClr val="accent2"/>
                </a:solidFill>
                <a:effectLst/>
                <a:latin typeface="Times New Roman" panose="02020603050405020304" pitchFamily="18" charset="0"/>
                <a:cs typeface="Times New Roman" panose="02020603050405020304" pitchFamily="18" charset="0"/>
              </a:rPr>
              <a:t>: </a:t>
            </a:r>
            <a:r>
              <a:rPr kumimoji="0" lang="en-US" altLang="en-US"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can automate various tasks and processes within a smart home, such as turning on lights, adjusting the temperature, and even ordering groceries. This can save time and make life more convenient for homeowners.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2700" b="0" i="0" strike="noStrike" cap="none" normalizeH="0" baseline="0" dirty="0">
                <a:ln>
                  <a:noFill/>
                </a:ln>
                <a:solidFill>
                  <a:schemeClr val="accent2"/>
                </a:solidFill>
                <a:effectLst/>
                <a:latin typeface="Times New Roman" panose="02020603050405020304" pitchFamily="18" charset="0"/>
                <a:cs typeface="Times New Roman" panose="02020603050405020304" pitchFamily="18" charset="0"/>
              </a:rPr>
              <a:t>2.) </a:t>
            </a:r>
            <a:r>
              <a:rPr kumimoji="0" lang="en-US" altLang="en-US" sz="2700" b="0" i="0" u="sng" strike="noStrike" cap="none" normalizeH="0" baseline="0" dirty="0">
                <a:ln>
                  <a:noFill/>
                </a:ln>
                <a:solidFill>
                  <a:schemeClr val="accent2"/>
                </a:solidFill>
                <a:effectLst/>
                <a:latin typeface="Times New Roman" panose="02020603050405020304" pitchFamily="18" charset="0"/>
                <a:cs typeface="Times New Roman" panose="02020603050405020304" pitchFamily="18" charset="0"/>
              </a:rPr>
              <a:t>Improved energy efficiency</a:t>
            </a:r>
            <a:r>
              <a:rPr kumimoji="0" lang="en-US" altLang="en-US" sz="2700" b="0" i="0" strike="noStrike" cap="none" normalizeH="0" baseline="0" dirty="0">
                <a:ln>
                  <a:noFill/>
                </a:ln>
                <a:solidFill>
                  <a:schemeClr val="accent2"/>
                </a:solidFill>
                <a:effectLst/>
                <a:latin typeface="Times New Roman" panose="02020603050405020304" pitchFamily="18" charset="0"/>
                <a:cs typeface="Times New Roman" panose="02020603050405020304" pitchFamily="18" charset="0"/>
              </a:rPr>
              <a:t>: </a:t>
            </a:r>
            <a:r>
              <a:rPr kumimoji="0" lang="en-US" altLang="en-US"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AI-powered smart homes can optimize energy usage by adjusting temperature settings and turning off appliances when they are not in use. This can lead to lower energy bills and a reduced carbon footprint.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2700" b="0" i="0" u="none" strike="noStrike" cap="none" normalizeH="0" baseline="0" dirty="0">
                <a:ln>
                  <a:noFill/>
                </a:ln>
                <a:solidFill>
                  <a:schemeClr val="accent2"/>
                </a:solidFill>
                <a:effectLst/>
                <a:latin typeface="Times New Roman" panose="02020603050405020304" pitchFamily="18" charset="0"/>
                <a:cs typeface="Times New Roman" panose="02020603050405020304" pitchFamily="18" charset="0"/>
              </a:rPr>
              <a:t>3.) </a:t>
            </a:r>
            <a:r>
              <a:rPr kumimoji="0" lang="en-US" altLang="en-US" sz="2700" b="0" i="0" u="sng" strike="noStrike" cap="none" normalizeH="0" baseline="0" dirty="0">
                <a:ln>
                  <a:noFill/>
                </a:ln>
                <a:solidFill>
                  <a:schemeClr val="accent2"/>
                </a:solidFill>
                <a:effectLst/>
                <a:latin typeface="Times New Roman" panose="02020603050405020304" pitchFamily="18" charset="0"/>
                <a:cs typeface="Times New Roman" panose="02020603050405020304" pitchFamily="18" charset="0"/>
              </a:rPr>
              <a:t>Enhanced security</a:t>
            </a:r>
            <a:r>
              <a:rPr kumimoji="0" lang="en-US" altLang="en-US" sz="2700" b="0" i="0" u="none" strike="noStrike" cap="none" normalizeH="0" baseline="0" dirty="0">
                <a:ln>
                  <a:noFill/>
                </a:ln>
                <a:solidFill>
                  <a:schemeClr val="accent2"/>
                </a:solidFill>
                <a:effectLst/>
                <a:latin typeface="Times New Roman" panose="02020603050405020304" pitchFamily="18" charset="0"/>
                <a:cs typeface="Times New Roman" panose="02020603050405020304" pitchFamily="18" charset="0"/>
              </a:rPr>
              <a:t>: </a:t>
            </a:r>
            <a:r>
              <a:rPr kumimoji="0" lang="en-US" altLang="en-US"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AI-powered security systems can detect unusual activity and alert homeowners or authorities if there is a potential threat. AI can also analyze data from security cameras to identify potential intruders and improve overall security.</a:t>
            </a:r>
          </a:p>
          <a:p>
            <a:pPr marL="0" marR="0" lvl="0" indent="0" algn="just" defTabSz="914400" rtl="0" eaLnBrk="0" fontAlgn="base" latinLnBrk="0" hangingPunct="0">
              <a:lnSpc>
                <a:spcPct val="100000"/>
              </a:lnSpc>
              <a:spcBef>
                <a:spcPct val="0"/>
              </a:spcBef>
              <a:spcAft>
                <a:spcPct val="0"/>
              </a:spcAft>
              <a:buClrTx/>
              <a:buSzTx/>
              <a:buFontTx/>
              <a:buNone/>
              <a:tabLst/>
            </a:pPr>
            <a:br>
              <a:rPr kumimoji="0" lang="en-US" altLang="en-US"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899400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71B10B-8CD1-9CE6-4DF2-A0460C95A8BF}"/>
              </a:ext>
            </a:extLst>
          </p:cNvPr>
          <p:cNvSpPr txBox="1"/>
          <p:nvPr/>
        </p:nvSpPr>
        <p:spPr>
          <a:xfrm>
            <a:off x="0" y="88356"/>
            <a:ext cx="12192000" cy="5339923"/>
          </a:xfrm>
          <a:prstGeom prst="rect">
            <a:avLst/>
          </a:prstGeom>
          <a:noFill/>
        </p:spPr>
        <p:txBody>
          <a:bodyPr wrap="square">
            <a:spAutoFit/>
          </a:bodyPr>
          <a:lstStyle/>
          <a:p>
            <a:pPr algn="just"/>
            <a:r>
              <a:rPr lang="en-US" sz="3000" b="0" i="0" dirty="0">
                <a:solidFill>
                  <a:schemeClr val="accent2"/>
                </a:solidFill>
                <a:effectLst/>
                <a:latin typeface="Times New Roman" panose="02020603050405020304" pitchFamily="18" charset="0"/>
                <a:cs typeface="Times New Roman" panose="02020603050405020304" pitchFamily="18" charset="0"/>
              </a:rPr>
              <a:t>4.) </a:t>
            </a:r>
            <a:r>
              <a:rPr lang="en-US" sz="3000" b="0" i="0" u="sng" dirty="0">
                <a:solidFill>
                  <a:schemeClr val="accent2"/>
                </a:solidFill>
                <a:effectLst/>
                <a:latin typeface="Times New Roman" panose="02020603050405020304" pitchFamily="18" charset="0"/>
                <a:cs typeface="Times New Roman" panose="02020603050405020304" pitchFamily="18" charset="0"/>
              </a:rPr>
              <a:t>Personalization</a:t>
            </a:r>
            <a:r>
              <a:rPr lang="en-US" sz="3000" b="0" i="0" dirty="0">
                <a:solidFill>
                  <a:schemeClr val="accent2"/>
                </a:solidFill>
                <a:effectLst/>
                <a:latin typeface="Times New Roman" panose="02020603050405020304" pitchFamily="18" charset="0"/>
                <a:cs typeface="Times New Roman" panose="02020603050405020304" pitchFamily="18" charset="0"/>
              </a:rPr>
              <a:t>: </a:t>
            </a:r>
            <a:r>
              <a:rPr lang="en-US" sz="3000" b="0" i="0" dirty="0">
                <a:effectLst/>
                <a:latin typeface="Times New Roman" panose="02020603050405020304" pitchFamily="18" charset="0"/>
                <a:cs typeface="Times New Roman" panose="02020603050405020304" pitchFamily="18" charset="0"/>
              </a:rPr>
              <a:t>AI can learn the preferences of homeowners and personalize the smart home experience accordingly. For example, an AI-powered smart home can adjust lighting and temperature settings based on a homeowner's daily routine.</a:t>
            </a:r>
          </a:p>
          <a:p>
            <a:pPr algn="just"/>
            <a:endParaRPr lang="en-US" sz="1100" b="0" i="0" dirty="0">
              <a:effectLst/>
              <a:latin typeface="Times New Roman" panose="02020603050405020304" pitchFamily="18" charset="0"/>
              <a:cs typeface="Times New Roman" panose="02020603050405020304" pitchFamily="18" charset="0"/>
            </a:endParaRPr>
          </a:p>
          <a:p>
            <a:pPr algn="just"/>
            <a:r>
              <a:rPr lang="en-US" sz="3000" b="0" i="0" dirty="0">
                <a:solidFill>
                  <a:schemeClr val="accent2"/>
                </a:solidFill>
                <a:effectLst/>
                <a:latin typeface="Times New Roman" panose="02020603050405020304" pitchFamily="18" charset="0"/>
                <a:cs typeface="Times New Roman" panose="02020603050405020304" pitchFamily="18" charset="0"/>
              </a:rPr>
              <a:t>5.) </a:t>
            </a:r>
            <a:r>
              <a:rPr lang="en-US" sz="3000" b="0" i="0" u="sng" dirty="0">
                <a:solidFill>
                  <a:schemeClr val="accent2"/>
                </a:solidFill>
                <a:effectLst/>
                <a:latin typeface="Times New Roman" panose="02020603050405020304" pitchFamily="18" charset="0"/>
                <a:cs typeface="Times New Roman" panose="02020603050405020304" pitchFamily="18" charset="0"/>
              </a:rPr>
              <a:t>Remote access</a:t>
            </a:r>
            <a:r>
              <a:rPr lang="en-US" sz="3000" b="0" i="0" dirty="0">
                <a:solidFill>
                  <a:schemeClr val="accent2"/>
                </a:solidFill>
                <a:effectLst/>
                <a:latin typeface="Times New Roman" panose="02020603050405020304" pitchFamily="18" charset="0"/>
                <a:cs typeface="Times New Roman" panose="02020603050405020304" pitchFamily="18" charset="0"/>
              </a:rPr>
              <a:t>: </a:t>
            </a:r>
            <a:r>
              <a:rPr lang="en-US" sz="3000" b="0" i="0" dirty="0">
                <a:effectLst/>
                <a:latin typeface="Times New Roman" panose="02020603050405020304" pitchFamily="18" charset="0"/>
                <a:cs typeface="Times New Roman" panose="02020603050405020304" pitchFamily="18" charset="0"/>
              </a:rPr>
              <a:t>AI-powered smart homes can be controlled remotely, giving homeowners access to their home's systems and appliances from anywhere. This can be particularly useful for people who travel frequently or have multiple homes.</a:t>
            </a:r>
          </a:p>
          <a:p>
            <a:pPr algn="just"/>
            <a:endParaRPr lang="en-US" sz="3000" b="0" i="0" dirty="0">
              <a:effectLst/>
              <a:latin typeface="Times New Roman" panose="02020603050405020304" pitchFamily="18" charset="0"/>
              <a:cs typeface="Times New Roman" panose="02020603050405020304" pitchFamily="18" charset="0"/>
            </a:endParaRPr>
          </a:p>
          <a:p>
            <a:pPr algn="just"/>
            <a:r>
              <a:rPr lang="en-US" sz="3000" b="0" i="0" dirty="0">
                <a:effectLst/>
                <a:latin typeface="Times New Roman" panose="02020603050405020304" pitchFamily="18" charset="0"/>
                <a:cs typeface="Times New Roman" panose="02020603050405020304" pitchFamily="18" charset="0"/>
              </a:rPr>
              <a:t>Overall, AI can bring a lot of benefits to smart homes, making them more convenient, efficient, secure, and personalized.</a:t>
            </a:r>
          </a:p>
        </p:txBody>
      </p:sp>
    </p:spTree>
    <p:extLst>
      <p:ext uri="{BB962C8B-B14F-4D97-AF65-F5344CB8AC3E}">
        <p14:creationId xmlns:p14="http://schemas.microsoft.com/office/powerpoint/2010/main" val="1386496189"/>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7DEC8B-7F26-0559-8410-68D1D2A77213}"/>
              </a:ext>
            </a:extLst>
          </p:cNvPr>
          <p:cNvSpPr txBox="1"/>
          <p:nvPr/>
        </p:nvSpPr>
        <p:spPr>
          <a:xfrm>
            <a:off x="233082" y="151510"/>
            <a:ext cx="2070847" cy="815608"/>
          </a:xfrm>
          <a:prstGeom prst="rect">
            <a:avLst/>
          </a:prstGeom>
          <a:noFill/>
        </p:spPr>
        <p:txBody>
          <a:bodyPr wrap="square">
            <a:spAutoFit/>
          </a:bodyPr>
          <a:lstStyle/>
          <a:p>
            <a:r>
              <a:rPr lang="en-US" sz="4700" u="sng" dirty="0">
                <a:solidFill>
                  <a:schemeClr val="bg1"/>
                </a:solidFill>
                <a:effectLst>
                  <a:glow rad="228600">
                    <a:schemeClr val="accent2">
                      <a:satMod val="175000"/>
                      <a:alpha val="40000"/>
                    </a:schemeClr>
                  </a:glow>
                </a:effectLst>
                <a:latin typeface="Times New Roman" panose="02020603050405020304" pitchFamily="18" charset="0"/>
                <a:cs typeface="Times New Roman" panose="02020603050405020304" pitchFamily="18" charset="0"/>
              </a:rPr>
              <a:t>CONS:</a:t>
            </a:r>
          </a:p>
        </p:txBody>
      </p:sp>
      <p:sp>
        <p:nvSpPr>
          <p:cNvPr id="5" name="TextBox 4">
            <a:extLst>
              <a:ext uri="{FF2B5EF4-FFF2-40B4-BE49-F238E27FC236}">
                <a16:creationId xmlns:a16="http://schemas.microsoft.com/office/drawing/2014/main" id="{BDB0B36A-7FF5-7FC9-6A54-CC2E8BF1E240}"/>
              </a:ext>
            </a:extLst>
          </p:cNvPr>
          <p:cNvSpPr txBox="1"/>
          <p:nvPr/>
        </p:nvSpPr>
        <p:spPr>
          <a:xfrm>
            <a:off x="0" y="1523163"/>
            <a:ext cx="12129247" cy="5047536"/>
          </a:xfrm>
          <a:prstGeom prst="rect">
            <a:avLst/>
          </a:prstGeom>
          <a:noFill/>
        </p:spPr>
        <p:txBody>
          <a:bodyPr wrap="square">
            <a:spAutoFit/>
          </a:bodyPr>
          <a:lstStyle/>
          <a:p>
            <a:pPr algn="just"/>
            <a:r>
              <a:rPr lang="en-US" sz="3000" b="0" i="0" dirty="0">
                <a:effectLst/>
                <a:latin typeface="Times New Roman" panose="02020603050405020304" pitchFamily="18" charset="0"/>
                <a:cs typeface="Times New Roman" panose="02020603050405020304" pitchFamily="18" charset="0"/>
              </a:rPr>
              <a:t>While AI can bring many benefits to smart homes, there are also potential drawbacks to consider, such as:</a:t>
            </a:r>
          </a:p>
          <a:p>
            <a:pPr algn="just"/>
            <a:endParaRPr lang="en-US" sz="1100" b="0" i="0" dirty="0">
              <a:effectLst/>
              <a:latin typeface="Times New Roman" panose="02020603050405020304" pitchFamily="18" charset="0"/>
              <a:cs typeface="Times New Roman" panose="02020603050405020304" pitchFamily="18" charset="0"/>
            </a:endParaRPr>
          </a:p>
          <a:p>
            <a:pPr algn="just"/>
            <a:r>
              <a:rPr lang="en-US" sz="3000" b="0" i="0" dirty="0">
                <a:solidFill>
                  <a:srgbClr val="FFFF00"/>
                </a:solidFill>
                <a:effectLst/>
                <a:latin typeface="Times New Roman" panose="02020603050405020304" pitchFamily="18" charset="0"/>
                <a:cs typeface="Times New Roman" panose="02020603050405020304" pitchFamily="18" charset="0"/>
              </a:rPr>
              <a:t>1.) </a:t>
            </a:r>
            <a:r>
              <a:rPr lang="en-US" sz="3000" b="0" i="0" u="sng" dirty="0">
                <a:solidFill>
                  <a:srgbClr val="FFFF00"/>
                </a:solidFill>
                <a:effectLst/>
                <a:latin typeface="Times New Roman" panose="02020603050405020304" pitchFamily="18" charset="0"/>
                <a:cs typeface="Times New Roman" panose="02020603050405020304" pitchFamily="18" charset="0"/>
              </a:rPr>
              <a:t>Privacy concerns</a:t>
            </a:r>
            <a:r>
              <a:rPr lang="en-US" sz="3000" b="0" i="0" dirty="0">
                <a:solidFill>
                  <a:srgbClr val="FFFF00"/>
                </a:solidFill>
                <a:effectLst/>
                <a:latin typeface="Times New Roman" panose="02020603050405020304" pitchFamily="18" charset="0"/>
                <a:cs typeface="Times New Roman" panose="02020603050405020304" pitchFamily="18" charset="0"/>
              </a:rPr>
              <a:t>: </a:t>
            </a:r>
            <a:r>
              <a:rPr lang="en-US" sz="3000" b="0" i="0" dirty="0">
                <a:effectLst/>
                <a:latin typeface="Times New Roman" panose="02020603050405020304" pitchFamily="18" charset="0"/>
                <a:cs typeface="Times New Roman" panose="02020603050405020304" pitchFamily="18" charset="0"/>
              </a:rPr>
              <a:t>AI-powered smart homes collect a lot of data on the behavior and habits of the occupants. This data can be sensitive and may be misused if it falls into the wrong hands. Additionally, some people may feel uncomfortable with the idea of being constantly monitored by technology.</a:t>
            </a:r>
          </a:p>
          <a:p>
            <a:pPr algn="just"/>
            <a:endParaRPr lang="en-US" sz="1100" b="0" i="0" dirty="0">
              <a:effectLst/>
              <a:latin typeface="Times New Roman" panose="02020603050405020304" pitchFamily="18" charset="0"/>
              <a:cs typeface="Times New Roman" panose="02020603050405020304" pitchFamily="18" charset="0"/>
            </a:endParaRPr>
          </a:p>
          <a:p>
            <a:pPr algn="just"/>
            <a:r>
              <a:rPr lang="en-US" sz="3000" b="0" i="0" dirty="0">
                <a:solidFill>
                  <a:srgbClr val="FFFF00"/>
                </a:solidFill>
                <a:effectLst/>
                <a:latin typeface="Times New Roman" panose="02020603050405020304" pitchFamily="18" charset="0"/>
                <a:cs typeface="Times New Roman" panose="02020603050405020304" pitchFamily="18" charset="0"/>
              </a:rPr>
              <a:t>2.) </a:t>
            </a:r>
            <a:r>
              <a:rPr lang="en-US" sz="3000" b="0" i="0" u="sng" dirty="0">
                <a:solidFill>
                  <a:srgbClr val="FFFF00"/>
                </a:solidFill>
                <a:effectLst/>
                <a:latin typeface="Times New Roman" panose="02020603050405020304" pitchFamily="18" charset="0"/>
                <a:cs typeface="Times New Roman" panose="02020603050405020304" pitchFamily="18" charset="0"/>
              </a:rPr>
              <a:t>Dependence on technology</a:t>
            </a:r>
            <a:r>
              <a:rPr lang="en-US" sz="3000" b="0" i="0" dirty="0">
                <a:solidFill>
                  <a:srgbClr val="FFFF00"/>
                </a:solidFill>
                <a:effectLst/>
                <a:latin typeface="Times New Roman" panose="02020603050405020304" pitchFamily="18" charset="0"/>
                <a:cs typeface="Times New Roman" panose="02020603050405020304" pitchFamily="18" charset="0"/>
              </a:rPr>
              <a:t>: </a:t>
            </a:r>
            <a:r>
              <a:rPr lang="en-US" sz="3000" b="0" i="0" dirty="0">
                <a:effectLst/>
                <a:latin typeface="Times New Roman" panose="02020603050405020304" pitchFamily="18" charset="0"/>
                <a:cs typeface="Times New Roman" panose="02020603050405020304" pitchFamily="18" charset="0"/>
              </a:rPr>
              <a:t>Smart homes rely on technology to function, and AI is no exception. If the AI system malfunctions or there is a power outage, homeowners may not be able to control their home's systems and appliances.</a:t>
            </a:r>
          </a:p>
        </p:txBody>
      </p:sp>
    </p:spTree>
    <p:extLst>
      <p:ext uri="{BB962C8B-B14F-4D97-AF65-F5344CB8AC3E}">
        <p14:creationId xmlns:p14="http://schemas.microsoft.com/office/powerpoint/2010/main" val="80826253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9AD7B9-61F3-6C88-829D-BF07E4FC6429}"/>
              </a:ext>
            </a:extLst>
          </p:cNvPr>
          <p:cNvSpPr txBox="1"/>
          <p:nvPr/>
        </p:nvSpPr>
        <p:spPr>
          <a:xfrm>
            <a:off x="80682" y="143434"/>
            <a:ext cx="11932024" cy="6093976"/>
          </a:xfrm>
          <a:prstGeom prst="rect">
            <a:avLst/>
          </a:prstGeom>
          <a:noFill/>
        </p:spPr>
        <p:txBody>
          <a:bodyPr wrap="square">
            <a:spAutoFit/>
          </a:bodyPr>
          <a:lstStyle/>
          <a:p>
            <a:pPr algn="just"/>
            <a:r>
              <a:rPr lang="en-US" sz="3000" b="0" i="0" dirty="0">
                <a:solidFill>
                  <a:srgbClr val="FFFF00"/>
                </a:solidFill>
                <a:effectLst/>
                <a:latin typeface="Times New Roman" panose="02020603050405020304" pitchFamily="18" charset="0"/>
                <a:cs typeface="Times New Roman" panose="02020603050405020304" pitchFamily="18" charset="0"/>
              </a:rPr>
              <a:t>3.) </a:t>
            </a:r>
            <a:r>
              <a:rPr lang="en-US" sz="3000" b="0" i="0" u="sng" dirty="0">
                <a:solidFill>
                  <a:srgbClr val="FFFF00"/>
                </a:solidFill>
                <a:effectLst/>
                <a:latin typeface="Times New Roman" panose="02020603050405020304" pitchFamily="18" charset="0"/>
                <a:cs typeface="Times New Roman" panose="02020603050405020304" pitchFamily="18" charset="0"/>
              </a:rPr>
              <a:t>Complexity</a:t>
            </a:r>
            <a:r>
              <a:rPr lang="en-US" sz="3000" b="0" i="0" dirty="0">
                <a:solidFill>
                  <a:srgbClr val="FFFF00"/>
                </a:solidFill>
                <a:effectLst/>
                <a:latin typeface="Times New Roman" panose="02020603050405020304" pitchFamily="18" charset="0"/>
                <a:cs typeface="Times New Roman" panose="02020603050405020304" pitchFamily="18" charset="0"/>
              </a:rPr>
              <a:t>: </a:t>
            </a:r>
            <a:r>
              <a:rPr lang="en-US" sz="3000" b="0" i="0" dirty="0">
                <a:effectLst/>
                <a:latin typeface="Times New Roman" panose="02020603050405020304" pitchFamily="18" charset="0"/>
                <a:cs typeface="Times New Roman" panose="02020603050405020304" pitchFamily="18" charset="0"/>
              </a:rPr>
              <a:t>AI-powered smart homes can be complex to set up and maintain. Homeowners may need to have some technical knowledge to troubleshoot issues or make changes to their system.</a:t>
            </a:r>
          </a:p>
          <a:p>
            <a:pPr algn="just"/>
            <a:endParaRPr lang="en-US" sz="3000" b="0" i="0" dirty="0">
              <a:effectLst/>
              <a:latin typeface="Times New Roman" panose="02020603050405020304" pitchFamily="18" charset="0"/>
              <a:cs typeface="Times New Roman" panose="02020603050405020304" pitchFamily="18" charset="0"/>
            </a:endParaRPr>
          </a:p>
          <a:p>
            <a:pPr algn="just"/>
            <a:r>
              <a:rPr lang="en-US" sz="3000" b="0" i="0" dirty="0">
                <a:solidFill>
                  <a:srgbClr val="FFFF00"/>
                </a:solidFill>
                <a:effectLst/>
                <a:latin typeface="Times New Roman" panose="02020603050405020304" pitchFamily="18" charset="0"/>
                <a:cs typeface="Times New Roman" panose="02020603050405020304" pitchFamily="18" charset="0"/>
              </a:rPr>
              <a:t>4.) </a:t>
            </a:r>
            <a:r>
              <a:rPr lang="en-US" sz="3000" b="0" i="0" u="sng" dirty="0">
                <a:solidFill>
                  <a:srgbClr val="FFFF00"/>
                </a:solidFill>
                <a:effectLst/>
                <a:latin typeface="Times New Roman" panose="02020603050405020304" pitchFamily="18" charset="0"/>
                <a:cs typeface="Times New Roman" panose="02020603050405020304" pitchFamily="18" charset="0"/>
              </a:rPr>
              <a:t>Cost</a:t>
            </a:r>
            <a:r>
              <a:rPr lang="en-US" sz="3000" b="0" i="0" dirty="0">
                <a:solidFill>
                  <a:srgbClr val="FFFF00"/>
                </a:solidFill>
                <a:effectLst/>
                <a:latin typeface="Times New Roman" panose="02020603050405020304" pitchFamily="18" charset="0"/>
                <a:cs typeface="Times New Roman" panose="02020603050405020304" pitchFamily="18" charset="0"/>
              </a:rPr>
              <a:t>: </a:t>
            </a:r>
            <a:r>
              <a:rPr lang="en-US" sz="3000" b="0" i="0" dirty="0">
                <a:effectLst/>
                <a:latin typeface="Times New Roman" panose="02020603050405020304" pitchFamily="18" charset="0"/>
                <a:cs typeface="Times New Roman" panose="02020603050405020304" pitchFamily="18" charset="0"/>
              </a:rPr>
              <a:t>AI-powered smart homes can be expensive to set up and maintain, as they often require specialized equipment and ongoing technical support.</a:t>
            </a:r>
          </a:p>
          <a:p>
            <a:pPr algn="just"/>
            <a:endParaRPr lang="en-US" sz="3000" b="0" i="0" dirty="0">
              <a:effectLst/>
              <a:latin typeface="Times New Roman" panose="02020603050405020304" pitchFamily="18" charset="0"/>
              <a:cs typeface="Times New Roman" panose="02020603050405020304" pitchFamily="18" charset="0"/>
            </a:endParaRPr>
          </a:p>
          <a:p>
            <a:pPr algn="just"/>
            <a:r>
              <a:rPr lang="en-US" sz="3000" b="0" i="0" dirty="0">
                <a:solidFill>
                  <a:srgbClr val="FFFF00"/>
                </a:solidFill>
                <a:effectLst/>
                <a:latin typeface="Times New Roman" panose="02020603050405020304" pitchFamily="18" charset="0"/>
                <a:cs typeface="Times New Roman" panose="02020603050405020304" pitchFamily="18" charset="0"/>
              </a:rPr>
              <a:t>5.) </a:t>
            </a:r>
            <a:r>
              <a:rPr lang="en-US" sz="3000" b="0" i="0" u="sng" dirty="0">
                <a:solidFill>
                  <a:srgbClr val="FFFF00"/>
                </a:solidFill>
                <a:effectLst/>
                <a:latin typeface="Times New Roman" panose="02020603050405020304" pitchFamily="18" charset="0"/>
                <a:cs typeface="Times New Roman" panose="02020603050405020304" pitchFamily="18" charset="0"/>
              </a:rPr>
              <a:t>Potential for errors</a:t>
            </a:r>
            <a:r>
              <a:rPr lang="en-US" sz="3000" b="0" i="0" dirty="0">
                <a:solidFill>
                  <a:srgbClr val="FFFF00"/>
                </a:solidFill>
                <a:effectLst/>
                <a:latin typeface="Times New Roman" panose="02020603050405020304" pitchFamily="18" charset="0"/>
                <a:cs typeface="Times New Roman" panose="02020603050405020304" pitchFamily="18" charset="0"/>
              </a:rPr>
              <a:t>: </a:t>
            </a:r>
            <a:r>
              <a:rPr lang="en-US" sz="3000" b="0" i="0" dirty="0">
                <a:effectLst/>
                <a:latin typeface="Times New Roman" panose="02020603050405020304" pitchFamily="18" charset="0"/>
                <a:cs typeface="Times New Roman" panose="02020603050405020304" pitchFamily="18" charset="0"/>
              </a:rPr>
              <a:t>AI-powered smart homes are only as good as the algorithms they use. If the algorithms are not accurate or reliable, the AI system may make errors or fail to function properly.</a:t>
            </a:r>
          </a:p>
          <a:p>
            <a:pPr algn="just"/>
            <a:endParaRPr lang="en-US" sz="3000" dirty="0">
              <a:latin typeface="Times New Roman" panose="02020603050405020304" pitchFamily="18" charset="0"/>
              <a:cs typeface="Times New Roman" panose="02020603050405020304" pitchFamily="18" charset="0"/>
            </a:endParaRPr>
          </a:p>
          <a:p>
            <a:pPr algn="just"/>
            <a:r>
              <a:rPr lang="en-US" sz="3000" b="0" i="0" dirty="0">
                <a:effectLst/>
                <a:latin typeface="Times New Roman" panose="02020603050405020304" pitchFamily="18" charset="0"/>
                <a:cs typeface="Times New Roman" panose="02020603050405020304" pitchFamily="18" charset="0"/>
              </a:rPr>
              <a:t>Overall, while AI can bring many benefits to smart homes, it is important to be aware of the potential drawbacks and take steps to mitigate them.</a:t>
            </a:r>
          </a:p>
        </p:txBody>
      </p:sp>
    </p:spTree>
    <p:extLst>
      <p:ext uri="{BB962C8B-B14F-4D97-AF65-F5344CB8AC3E}">
        <p14:creationId xmlns:p14="http://schemas.microsoft.com/office/powerpoint/2010/main" val="2430375065"/>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E65077-6CF3-1C7B-AAE3-A3DFBD35D3E2}"/>
              </a:ext>
            </a:extLst>
          </p:cNvPr>
          <p:cNvSpPr txBox="1"/>
          <p:nvPr/>
        </p:nvSpPr>
        <p:spPr>
          <a:xfrm>
            <a:off x="0" y="1348800"/>
            <a:ext cx="12120282" cy="5509200"/>
          </a:xfrm>
          <a:prstGeom prst="rect">
            <a:avLst/>
          </a:prstGeom>
          <a:noFill/>
        </p:spPr>
        <p:txBody>
          <a:bodyPr wrap="square">
            <a:spAutoFit/>
          </a:bodyPr>
          <a:lstStyle/>
          <a:p>
            <a:pPr algn="just"/>
            <a:r>
              <a:rPr lang="en-US" sz="3200" b="0" i="0" dirty="0">
                <a:effectLst/>
                <a:latin typeface="Times New Roman" panose="02020603050405020304" pitchFamily="18" charset="0"/>
                <a:cs typeface="Times New Roman" panose="02020603050405020304" pitchFamily="18" charset="0"/>
              </a:rPr>
              <a:t>I has revolutionized the concept of smart homes by providing homeowners with a range of innovative and intelligent solutions that make their lives easier and more convenient. From voice assistants like Alexa and Google Assistant to smart thermostats, security systems, and appliances, AI-powered technology is transforming the way we interact with our homes. With the ability to learn from our behaviors and adapt to our preferences, AI is making smart homes more personalized and responsive than ever before. As AI continues to evolve and improve, we can expect even more exciting and transformative developments in the field of smart homes in the years to come, ushering in a new era of home automation and convenience.</a:t>
            </a:r>
            <a:endParaRPr lang="en-US" sz="32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A213267-F234-F131-E7B5-6F43DE82765E}"/>
              </a:ext>
            </a:extLst>
          </p:cNvPr>
          <p:cNvSpPr txBox="1"/>
          <p:nvPr/>
        </p:nvSpPr>
        <p:spPr>
          <a:xfrm>
            <a:off x="71718" y="196333"/>
            <a:ext cx="6096000" cy="815608"/>
          </a:xfrm>
          <a:prstGeom prst="rect">
            <a:avLst/>
          </a:prstGeom>
          <a:noFill/>
        </p:spPr>
        <p:txBody>
          <a:bodyPr wrap="square">
            <a:spAutoFit/>
          </a:bodyPr>
          <a:lstStyle/>
          <a:p>
            <a:pPr algn="just"/>
            <a:r>
              <a:rPr lang="en-US" sz="4700" b="0" i="0" u="sng" dirty="0">
                <a:effectLst>
                  <a:glow rad="139700">
                    <a:schemeClr val="accent2">
                      <a:satMod val="175000"/>
                      <a:alpha val="40000"/>
                    </a:schemeClr>
                  </a:glow>
                </a:effectLst>
                <a:latin typeface="Times New Roman" panose="02020603050405020304" pitchFamily="18" charset="0"/>
                <a:cs typeface="Times New Roman" panose="02020603050405020304" pitchFamily="18" charset="0"/>
              </a:rPr>
              <a:t>Conclusion</a:t>
            </a:r>
            <a:endParaRPr lang="en-US" sz="4700" u="sng" dirty="0">
              <a:effectLst>
                <a:glow rad="139700">
                  <a:schemeClr val="accent2">
                    <a:satMod val="175000"/>
                    <a:alpha val="40000"/>
                  </a:schemeClr>
                </a:glo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5618778"/>
      </p:ext>
    </p:extLst>
  </p:cSld>
  <p:clrMapOvr>
    <a:masterClrMapping/>
  </p:clrMapOvr>
  <p:transition spd="slow">
    <p:wheel spokes="1"/>
  </p:transition>
</p:sld>
</file>

<file path=ppt/slides/slide1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14000" b="-14000"/>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C2C151B-5D76-0569-386F-DA9A0531083C}"/>
              </a:ext>
            </a:extLst>
          </p:cNvPr>
          <p:cNvSpPr txBox="1"/>
          <p:nvPr/>
        </p:nvSpPr>
        <p:spPr>
          <a:xfrm>
            <a:off x="1227842" y="5442506"/>
            <a:ext cx="6094428" cy="1092607"/>
          </a:xfrm>
          <a:prstGeom prst="rect">
            <a:avLst/>
          </a:prstGeom>
          <a:noFill/>
        </p:spPr>
        <p:txBody>
          <a:bodyPr wrap="square">
            <a:prstTxWarp prst="textWave2">
              <a:avLst/>
            </a:prstTxWarp>
            <a:spAutoFit/>
          </a:bodyPr>
          <a:lstStyle/>
          <a:p>
            <a:r>
              <a:rPr lang="en-US" sz="65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075710499"/>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224</TotalTime>
  <Words>1772</Words>
  <Application>Microsoft Office PowerPoint</Application>
  <PresentationFormat>Widescreen</PresentationFormat>
  <Paragraphs>73</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Century Gothic</vt:lpstr>
      <vt:lpstr>Comic Sans MS</vt:lpstr>
      <vt:lpstr>Söhne</vt:lpstr>
      <vt:lpstr>Times New Roman</vt:lpstr>
      <vt:lpstr>Wingdings 3</vt:lpstr>
      <vt:lpstr>Ion</vt:lpstr>
      <vt:lpstr>PowerPoint Presentation</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ARMAAN SINGH</dc:creator>
  <cp:keywords>V!ShaL</cp:keywords>
  <cp:lastModifiedBy>ARMAAN SINGH</cp:lastModifiedBy>
  <cp:revision>2</cp:revision>
  <dcterms:created xsi:type="dcterms:W3CDTF">2023-04-13T18:56:25Z</dcterms:created>
  <dcterms:modified xsi:type="dcterms:W3CDTF">2023-04-13T22:40:40Z</dcterms:modified>
</cp:coreProperties>
</file>